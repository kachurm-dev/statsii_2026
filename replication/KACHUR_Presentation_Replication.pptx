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71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17"/>
    <p:restoredTop sz="94723"/>
  </p:normalViewPr>
  <p:slideViewPr>
    <p:cSldViewPr snapToGrid="0">
      <p:cViewPr>
        <p:scale>
          <a:sx n="94" d="100"/>
          <a:sy n="94" d="100"/>
        </p:scale>
        <p:origin x="78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3AE1EB-B00C-49A7-84B4-DEF615AF3451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8EDFBB-2E55-4346-B8CF-2DB992CBE271}">
      <dgm:prSet custT="1"/>
      <dgm:spPr/>
      <dgm:t>
        <a:bodyPr/>
        <a:lstStyle/>
        <a:p>
          <a:r>
            <a:rPr lang="en-US" sz="2000" b="1" dirty="0">
              <a:latin typeface="Baskerville Old Face" panose="02020602080505020303" pitchFamily="18" charset="77"/>
            </a:rPr>
            <a:t>Model I</a:t>
          </a:r>
        </a:p>
      </dgm:t>
    </dgm:pt>
    <dgm:pt modelId="{0F94CFC0-0F81-4263-BF22-A7DFBB38C8FC}" type="parTrans" cxnId="{ED9892E4-7F3F-4C15-9A42-B75271DA2A4E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0E20A9CC-872A-4A0F-AB56-4B76EEEA012F}" type="sibTrans" cxnId="{ED9892E4-7F3F-4C15-9A42-B75271DA2A4E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3560EFD5-24E2-4ADA-B566-AD7E05D13595}">
      <dgm:prSet custT="1"/>
      <dgm:spPr/>
      <dgm:t>
        <a:bodyPr/>
        <a:lstStyle/>
        <a:p>
          <a:r>
            <a:rPr lang="en-US" sz="1500" dirty="0">
              <a:latin typeface="Baskerville Old Face" panose="02020602080505020303" pitchFamily="18" charset="77"/>
            </a:rPr>
            <a:t>Left/right: Regresses committee representativeness on the left–right dimension on </a:t>
          </a:r>
          <a:r>
            <a:rPr lang="en-US" sz="1500" b="1" dirty="0">
              <a:latin typeface="Baskerville Old Face" panose="02020602080505020303" pitchFamily="18" charset="77"/>
            </a:rPr>
            <a:t>committee popularity </a:t>
          </a:r>
          <a:r>
            <a:rPr lang="en-US" sz="1500" dirty="0">
              <a:latin typeface="Baskerville Old Face" panose="02020602080505020303" pitchFamily="18" charset="77"/>
            </a:rPr>
            <a:t>(percentage measure).</a:t>
          </a:r>
        </a:p>
      </dgm:t>
    </dgm:pt>
    <dgm:pt modelId="{BD01892C-F507-468C-9757-A37CFDAFBFE5}" type="parTrans" cxnId="{A86E14BA-D233-43DE-970A-BD3BE80032AA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F78B7560-1479-458B-9A50-44044EB104C1}" type="sibTrans" cxnId="{A86E14BA-D233-43DE-970A-BD3BE80032AA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DDF7A841-137D-49CF-9126-7620531B6ABA}">
      <dgm:prSet custT="1"/>
      <dgm:spPr/>
      <dgm:t>
        <a:bodyPr/>
        <a:lstStyle/>
        <a:p>
          <a:r>
            <a:rPr lang="en-US" sz="2000" b="1" dirty="0">
              <a:latin typeface="Baskerville Old Face" panose="02020602080505020303" pitchFamily="18" charset="77"/>
            </a:rPr>
            <a:t>Model II</a:t>
          </a:r>
        </a:p>
      </dgm:t>
    </dgm:pt>
    <dgm:pt modelId="{20AB5302-5B9C-4DD6-98BF-ADDD15A6E748}" type="parTrans" cxnId="{19D6FBAC-48DD-4B7D-9703-EA1B7B248C47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2A63CCF7-2C2E-415B-AF44-EB9FF04A5747}" type="sibTrans" cxnId="{19D6FBAC-48DD-4B7D-9703-EA1B7B248C47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DFF8E846-FDA7-435B-8E0E-5BB03CA49210}">
      <dgm:prSet custT="1"/>
      <dgm:spPr/>
      <dgm:t>
        <a:bodyPr/>
        <a:lstStyle/>
        <a:p>
          <a:r>
            <a:rPr lang="en-US" sz="1500" dirty="0">
              <a:latin typeface="Baskerville Old Face" panose="02020602080505020303" pitchFamily="18" charset="77"/>
            </a:rPr>
            <a:t>Left/right: Regresses committee representativeness on the left–right dimension on </a:t>
          </a:r>
          <a:r>
            <a:rPr lang="en-US" sz="1500" b="1" dirty="0">
              <a:latin typeface="Baskerville Old Face" panose="02020602080505020303" pitchFamily="18" charset="77"/>
            </a:rPr>
            <a:t>committee popularity </a:t>
          </a:r>
          <a:r>
            <a:rPr lang="en-US" sz="1500" dirty="0">
              <a:latin typeface="Baskerville Old Face" panose="02020602080505020303" pitchFamily="18" charset="77"/>
            </a:rPr>
            <a:t>using an ordinal rank measure.</a:t>
          </a:r>
        </a:p>
      </dgm:t>
    </dgm:pt>
    <dgm:pt modelId="{9761EDF3-49C5-4BA5-989A-BFF4B56E77AE}" type="parTrans" cxnId="{B2E7B8A1-CE9B-4C69-A709-74C0BBA67EA8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87C36528-7C01-45C7-A8F6-64AC30A7CA0C}" type="sibTrans" cxnId="{B2E7B8A1-CE9B-4C69-A709-74C0BBA67EA8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91D48E67-C139-429C-B4A3-6023DBA459E9}">
      <dgm:prSet custT="1"/>
      <dgm:spPr/>
      <dgm:t>
        <a:bodyPr/>
        <a:lstStyle/>
        <a:p>
          <a:r>
            <a:rPr lang="en-US" sz="2000" b="1" i="0" dirty="0">
              <a:latin typeface="Baskerville Old Face" panose="02020602080505020303" pitchFamily="18" charset="77"/>
            </a:rPr>
            <a:t>Model III</a:t>
          </a:r>
        </a:p>
      </dgm:t>
    </dgm:pt>
    <dgm:pt modelId="{A68DBBAB-5E58-45F4-A63C-ADA1025ACC79}" type="parTrans" cxnId="{350CACFF-350B-4E23-9EC4-D313B5C56395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683788F8-C3D2-45E8-AD69-8BE559ADD874}" type="sibTrans" cxnId="{350CACFF-350B-4E23-9EC4-D313B5C56395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4F7BC527-AAB0-4DB0-88FF-FDFB94239A86}">
      <dgm:prSet custT="1"/>
      <dgm:spPr/>
      <dgm:t>
        <a:bodyPr/>
        <a:lstStyle/>
        <a:p>
          <a:r>
            <a:rPr lang="en-US" sz="1500" dirty="0">
              <a:latin typeface="Baskerville Old Face" panose="02020602080505020303" pitchFamily="18" charset="77"/>
            </a:rPr>
            <a:t>Left/right: Regresses committee representativeness on the left–right dimension on </a:t>
          </a:r>
          <a:r>
            <a:rPr lang="en-US" sz="1500" b="1" dirty="0">
              <a:latin typeface="Baskerville Old Face" panose="02020602080505020303" pitchFamily="18" charset="77"/>
            </a:rPr>
            <a:t>committee power</a:t>
          </a:r>
          <a:r>
            <a:rPr lang="en-US" sz="1500" dirty="0">
              <a:latin typeface="Baskerville Old Face" panose="02020602080505020303" pitchFamily="18" charset="77"/>
            </a:rPr>
            <a:t>.</a:t>
          </a:r>
        </a:p>
      </dgm:t>
    </dgm:pt>
    <dgm:pt modelId="{9F8239C8-AE7D-43BD-A8F9-9ABF0D6676CF}" type="parTrans" cxnId="{6E4C7CBC-D104-4EE9-8A40-18484E1690E4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4188EDA6-F21B-4798-A1C8-44CCD921D8F4}" type="sibTrans" cxnId="{6E4C7CBC-D104-4EE9-8A40-18484E1690E4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EB579DE8-D5E4-46D0-B001-68343BDDCF55}">
      <dgm:prSet custT="1"/>
      <dgm:spPr/>
      <dgm:t>
        <a:bodyPr/>
        <a:lstStyle/>
        <a:p>
          <a:r>
            <a:rPr lang="en-US" sz="2000" b="1" dirty="0">
              <a:latin typeface="Baskerville Old Face" panose="02020602080505020303" pitchFamily="18" charset="77"/>
            </a:rPr>
            <a:t>Model IV</a:t>
          </a:r>
        </a:p>
      </dgm:t>
    </dgm:pt>
    <dgm:pt modelId="{96D0DCC6-7C7A-4F4F-95A5-C19D0061FFB2}" type="parTrans" cxnId="{3CF79A13-A7A3-4093-84CE-B9E6CD2AD78C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05E2AE82-B8EE-4BAE-B112-51893B45AE8A}" type="sibTrans" cxnId="{3CF79A13-A7A3-4093-84CE-B9E6CD2AD78C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B102CA7B-2128-48D1-8E2D-EFB7001B0879}">
      <dgm:prSet custT="1"/>
      <dgm:spPr/>
      <dgm:t>
        <a:bodyPr/>
        <a:lstStyle/>
        <a:p>
          <a:r>
            <a:rPr lang="en-US" sz="1500" dirty="0">
              <a:latin typeface="Baskerville Old Face" panose="02020602080505020303" pitchFamily="18" charset="77"/>
            </a:rPr>
            <a:t>Pro/anti EU: Regresses committee representativeness on the pro/anti EU dimension on </a:t>
          </a:r>
          <a:r>
            <a:rPr lang="en-US" sz="1500" b="1" dirty="0">
              <a:latin typeface="Baskerville Old Face" panose="02020602080505020303" pitchFamily="18" charset="77"/>
            </a:rPr>
            <a:t>committee popularity </a:t>
          </a:r>
          <a:r>
            <a:rPr lang="en-US" sz="1500" dirty="0">
              <a:latin typeface="Baskerville Old Face" panose="02020602080505020303" pitchFamily="18" charset="77"/>
            </a:rPr>
            <a:t>(percentage measure).</a:t>
          </a:r>
        </a:p>
      </dgm:t>
    </dgm:pt>
    <dgm:pt modelId="{4BF95A5E-C2EA-4A25-B579-7437B96C26C8}" type="parTrans" cxnId="{B038A9E9-9D29-49AC-9142-76777B2BFF53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7AFC01EA-AFD8-415D-9F33-36A30491D3DC}" type="sibTrans" cxnId="{B038A9E9-9D29-49AC-9142-76777B2BFF53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97F933BC-257A-45B1-9A2D-5F7472BBE031}">
      <dgm:prSet custT="1"/>
      <dgm:spPr/>
      <dgm:t>
        <a:bodyPr/>
        <a:lstStyle/>
        <a:p>
          <a:r>
            <a:rPr lang="en-US" sz="2000" b="1" dirty="0">
              <a:latin typeface="Baskerville Old Face" panose="02020602080505020303" pitchFamily="18" charset="77"/>
            </a:rPr>
            <a:t>Model V</a:t>
          </a:r>
        </a:p>
      </dgm:t>
    </dgm:pt>
    <dgm:pt modelId="{1BE432E7-2579-4741-9617-D8F5377C7BE3}" type="parTrans" cxnId="{848B469A-9C46-4CCC-A884-EE2B8C1F9990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780C7DCA-99D7-4271-9729-4887A80854F2}" type="sibTrans" cxnId="{848B469A-9C46-4CCC-A884-EE2B8C1F9990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423C1B3B-49EA-4F10-84B8-10BBD2E65E40}">
      <dgm:prSet custT="1"/>
      <dgm:spPr/>
      <dgm:t>
        <a:bodyPr/>
        <a:lstStyle/>
        <a:p>
          <a:r>
            <a:rPr lang="en-US" sz="1500" dirty="0">
              <a:latin typeface="Baskerville Old Face" panose="02020602080505020303" pitchFamily="18" charset="77"/>
            </a:rPr>
            <a:t>Pro/anti EU: Regresses committee representativeness on the pro/anti EU dimension on </a:t>
          </a:r>
          <a:r>
            <a:rPr lang="en-US" sz="1500" b="1" dirty="0">
              <a:latin typeface="Baskerville Old Face" panose="02020602080505020303" pitchFamily="18" charset="77"/>
            </a:rPr>
            <a:t>committee popularity </a:t>
          </a:r>
          <a:r>
            <a:rPr lang="en-US" sz="1500" dirty="0">
              <a:latin typeface="Baskerville Old Face" panose="02020602080505020303" pitchFamily="18" charset="77"/>
            </a:rPr>
            <a:t>using an ordinal rank measure.</a:t>
          </a:r>
        </a:p>
      </dgm:t>
    </dgm:pt>
    <dgm:pt modelId="{A78409A8-A08A-41DD-A184-D1E978C5F8BC}" type="parTrans" cxnId="{728F660F-5CD8-4279-85D9-C4812F24BA3C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479070E8-F048-477D-BD86-0AE9D3EAFFA4}" type="sibTrans" cxnId="{728F660F-5CD8-4279-85D9-C4812F24BA3C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00EB1B05-DF68-4221-A803-17D5D85497B2}">
      <dgm:prSet custT="1"/>
      <dgm:spPr/>
      <dgm:t>
        <a:bodyPr/>
        <a:lstStyle/>
        <a:p>
          <a:r>
            <a:rPr lang="en-US" sz="2000" b="1" dirty="0">
              <a:latin typeface="Baskerville Old Face" panose="02020602080505020303" pitchFamily="18" charset="77"/>
            </a:rPr>
            <a:t>Model VI</a:t>
          </a:r>
        </a:p>
      </dgm:t>
    </dgm:pt>
    <dgm:pt modelId="{10B9F2D6-8C57-4AE9-A112-DFAEDA0DC75D}" type="parTrans" cxnId="{DFB1793F-DED3-4530-B4D7-D973D566F2DE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DD5BB089-3CB1-4337-B4CF-00343E099701}" type="sibTrans" cxnId="{DFB1793F-DED3-4530-B4D7-D973D566F2DE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AF463826-4F8D-4C39-B9C1-7B0B304CFC76}">
      <dgm:prSet custT="1"/>
      <dgm:spPr/>
      <dgm:t>
        <a:bodyPr/>
        <a:lstStyle/>
        <a:p>
          <a:r>
            <a:rPr lang="en-US" sz="1500" dirty="0">
              <a:latin typeface="Baskerville Old Face" panose="02020602080505020303" pitchFamily="18" charset="77"/>
            </a:rPr>
            <a:t>Pro/anti EU: Regresses committee representativeness on the pro/anti EU dimension on </a:t>
          </a:r>
          <a:r>
            <a:rPr lang="en-US" sz="1500" b="1" dirty="0">
              <a:latin typeface="Baskerville Old Face" panose="02020602080505020303" pitchFamily="18" charset="77"/>
            </a:rPr>
            <a:t>committee power</a:t>
          </a:r>
          <a:r>
            <a:rPr lang="en-US" sz="1500" dirty="0">
              <a:latin typeface="Baskerville Old Face" panose="02020602080505020303" pitchFamily="18" charset="77"/>
            </a:rPr>
            <a:t>.</a:t>
          </a:r>
        </a:p>
      </dgm:t>
    </dgm:pt>
    <dgm:pt modelId="{F00EFCFB-A2CF-4DC7-8E70-D9EDFEF86C00}" type="parTrans" cxnId="{C9C15745-1907-459D-8BD9-1DE05378B4D7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DDA57687-55FD-4721-A923-0910F398C5F5}" type="sibTrans" cxnId="{C9C15745-1907-459D-8BD9-1DE05378B4D7}">
      <dgm:prSet/>
      <dgm:spPr/>
      <dgm:t>
        <a:bodyPr/>
        <a:lstStyle/>
        <a:p>
          <a:endParaRPr lang="en-US" sz="2000">
            <a:latin typeface="Baskerville Old Face" panose="02020602080505020303" pitchFamily="18" charset="77"/>
          </a:endParaRPr>
        </a:p>
      </dgm:t>
    </dgm:pt>
    <dgm:pt modelId="{59AAAC23-98CA-E94F-B132-13283DBDF70B}" type="pres">
      <dgm:prSet presAssocID="{E43AE1EB-B00C-49A7-84B4-DEF615AF3451}" presName="Name0" presStyleCnt="0">
        <dgm:presLayoutVars>
          <dgm:dir/>
          <dgm:animLvl val="lvl"/>
          <dgm:resizeHandles val="exact"/>
        </dgm:presLayoutVars>
      </dgm:prSet>
      <dgm:spPr/>
    </dgm:pt>
    <dgm:pt modelId="{74EE4E16-4A02-B849-B5EE-1B9A241BE348}" type="pres">
      <dgm:prSet presAssocID="{AF8EDFBB-2E55-4346-B8CF-2DB992CBE271}" presName="composite" presStyleCnt="0"/>
      <dgm:spPr/>
    </dgm:pt>
    <dgm:pt modelId="{2B37FE52-F901-5240-8823-50DFFD8073F7}" type="pres">
      <dgm:prSet presAssocID="{AF8EDFBB-2E55-4346-B8CF-2DB992CBE271}" presName="parTx" presStyleLbl="alignNode1" presStyleIdx="0" presStyleCnt="6">
        <dgm:presLayoutVars>
          <dgm:chMax val="0"/>
          <dgm:chPref val="0"/>
        </dgm:presLayoutVars>
      </dgm:prSet>
      <dgm:spPr/>
    </dgm:pt>
    <dgm:pt modelId="{EA7B4D80-4800-2D4B-81B5-BB7F225EC218}" type="pres">
      <dgm:prSet presAssocID="{AF8EDFBB-2E55-4346-B8CF-2DB992CBE271}" presName="desTx" presStyleLbl="alignAccFollowNode1" presStyleIdx="0" presStyleCnt="6">
        <dgm:presLayoutVars/>
      </dgm:prSet>
      <dgm:spPr/>
    </dgm:pt>
    <dgm:pt modelId="{5294A0AC-03A1-764D-ACBC-4FEFAB53CB7A}" type="pres">
      <dgm:prSet presAssocID="{0E20A9CC-872A-4A0F-AB56-4B76EEEA012F}" presName="space" presStyleCnt="0"/>
      <dgm:spPr/>
    </dgm:pt>
    <dgm:pt modelId="{5CCDACE4-9F6E-984B-8343-169EE13D2A87}" type="pres">
      <dgm:prSet presAssocID="{DDF7A841-137D-49CF-9126-7620531B6ABA}" presName="composite" presStyleCnt="0"/>
      <dgm:spPr/>
    </dgm:pt>
    <dgm:pt modelId="{E5C5592C-AAEE-544B-A8D2-26B715F2ED67}" type="pres">
      <dgm:prSet presAssocID="{DDF7A841-137D-49CF-9126-7620531B6ABA}" presName="parTx" presStyleLbl="alignNode1" presStyleIdx="1" presStyleCnt="6">
        <dgm:presLayoutVars>
          <dgm:chMax val="0"/>
          <dgm:chPref val="0"/>
        </dgm:presLayoutVars>
      </dgm:prSet>
      <dgm:spPr/>
    </dgm:pt>
    <dgm:pt modelId="{E813D25E-2A16-C84A-94D2-29A92C8D3103}" type="pres">
      <dgm:prSet presAssocID="{DDF7A841-137D-49CF-9126-7620531B6ABA}" presName="desTx" presStyleLbl="alignAccFollowNode1" presStyleIdx="1" presStyleCnt="6">
        <dgm:presLayoutVars/>
      </dgm:prSet>
      <dgm:spPr/>
    </dgm:pt>
    <dgm:pt modelId="{EC68825D-E37A-594B-9E8A-9AED359F3845}" type="pres">
      <dgm:prSet presAssocID="{2A63CCF7-2C2E-415B-AF44-EB9FF04A5747}" presName="space" presStyleCnt="0"/>
      <dgm:spPr/>
    </dgm:pt>
    <dgm:pt modelId="{A280C83A-DC15-7742-B81A-9C58949FF907}" type="pres">
      <dgm:prSet presAssocID="{91D48E67-C139-429C-B4A3-6023DBA459E9}" presName="composite" presStyleCnt="0"/>
      <dgm:spPr/>
    </dgm:pt>
    <dgm:pt modelId="{DFA1F212-6FDF-4540-A693-BC42DFA77B4E}" type="pres">
      <dgm:prSet presAssocID="{91D48E67-C139-429C-B4A3-6023DBA459E9}" presName="parTx" presStyleLbl="alignNode1" presStyleIdx="2" presStyleCnt="6">
        <dgm:presLayoutVars>
          <dgm:chMax val="0"/>
          <dgm:chPref val="0"/>
        </dgm:presLayoutVars>
      </dgm:prSet>
      <dgm:spPr/>
    </dgm:pt>
    <dgm:pt modelId="{8087919A-748A-9F4D-8CD0-D1BB8BF16677}" type="pres">
      <dgm:prSet presAssocID="{91D48E67-C139-429C-B4A3-6023DBA459E9}" presName="desTx" presStyleLbl="alignAccFollowNode1" presStyleIdx="2" presStyleCnt="6">
        <dgm:presLayoutVars/>
      </dgm:prSet>
      <dgm:spPr/>
    </dgm:pt>
    <dgm:pt modelId="{AEE90C5B-1EB2-EB4B-A41E-7F2C6A0BA39D}" type="pres">
      <dgm:prSet presAssocID="{683788F8-C3D2-45E8-AD69-8BE559ADD874}" presName="space" presStyleCnt="0"/>
      <dgm:spPr/>
    </dgm:pt>
    <dgm:pt modelId="{216BB6D4-5083-1641-855A-92F919BF5FE2}" type="pres">
      <dgm:prSet presAssocID="{EB579DE8-D5E4-46D0-B001-68343BDDCF55}" presName="composite" presStyleCnt="0"/>
      <dgm:spPr/>
    </dgm:pt>
    <dgm:pt modelId="{134D7E77-B5A1-274D-B958-A35B1EFAC9AF}" type="pres">
      <dgm:prSet presAssocID="{EB579DE8-D5E4-46D0-B001-68343BDDCF55}" presName="parTx" presStyleLbl="alignNode1" presStyleIdx="3" presStyleCnt="6">
        <dgm:presLayoutVars>
          <dgm:chMax val="0"/>
          <dgm:chPref val="0"/>
        </dgm:presLayoutVars>
      </dgm:prSet>
      <dgm:spPr/>
    </dgm:pt>
    <dgm:pt modelId="{19DEEE36-8BD1-EB42-8B70-656B6DD9D384}" type="pres">
      <dgm:prSet presAssocID="{EB579DE8-D5E4-46D0-B001-68343BDDCF55}" presName="desTx" presStyleLbl="alignAccFollowNode1" presStyleIdx="3" presStyleCnt="6">
        <dgm:presLayoutVars/>
      </dgm:prSet>
      <dgm:spPr/>
    </dgm:pt>
    <dgm:pt modelId="{5B6CC1B3-4A32-2042-AA89-4BB1B6C615B2}" type="pres">
      <dgm:prSet presAssocID="{05E2AE82-B8EE-4BAE-B112-51893B45AE8A}" presName="space" presStyleCnt="0"/>
      <dgm:spPr/>
    </dgm:pt>
    <dgm:pt modelId="{FED1D5C6-47C3-9D40-8344-AC9FCED546C5}" type="pres">
      <dgm:prSet presAssocID="{97F933BC-257A-45B1-9A2D-5F7472BBE031}" presName="composite" presStyleCnt="0"/>
      <dgm:spPr/>
    </dgm:pt>
    <dgm:pt modelId="{E9FEF7DF-ECBD-1F48-92FB-D7B2D7E28368}" type="pres">
      <dgm:prSet presAssocID="{97F933BC-257A-45B1-9A2D-5F7472BBE031}" presName="parTx" presStyleLbl="alignNode1" presStyleIdx="4" presStyleCnt="6">
        <dgm:presLayoutVars>
          <dgm:chMax val="0"/>
          <dgm:chPref val="0"/>
        </dgm:presLayoutVars>
      </dgm:prSet>
      <dgm:spPr/>
    </dgm:pt>
    <dgm:pt modelId="{A3C55C03-B271-FD40-86BA-5D6AF18FFC10}" type="pres">
      <dgm:prSet presAssocID="{97F933BC-257A-45B1-9A2D-5F7472BBE031}" presName="desTx" presStyleLbl="alignAccFollowNode1" presStyleIdx="4" presStyleCnt="6">
        <dgm:presLayoutVars/>
      </dgm:prSet>
      <dgm:spPr/>
    </dgm:pt>
    <dgm:pt modelId="{64BD63AD-9AEF-0345-9239-85EF22EA7E0F}" type="pres">
      <dgm:prSet presAssocID="{780C7DCA-99D7-4271-9729-4887A80854F2}" presName="space" presStyleCnt="0"/>
      <dgm:spPr/>
    </dgm:pt>
    <dgm:pt modelId="{ABA9E00B-6EF5-D447-99D4-0C1DCA937523}" type="pres">
      <dgm:prSet presAssocID="{00EB1B05-DF68-4221-A803-17D5D85497B2}" presName="composite" presStyleCnt="0"/>
      <dgm:spPr/>
    </dgm:pt>
    <dgm:pt modelId="{67637CF3-B054-4F49-ADE6-F09EC5FE7E2D}" type="pres">
      <dgm:prSet presAssocID="{00EB1B05-DF68-4221-A803-17D5D85497B2}" presName="parTx" presStyleLbl="alignNode1" presStyleIdx="5" presStyleCnt="6">
        <dgm:presLayoutVars>
          <dgm:chMax val="0"/>
          <dgm:chPref val="0"/>
        </dgm:presLayoutVars>
      </dgm:prSet>
      <dgm:spPr/>
    </dgm:pt>
    <dgm:pt modelId="{A7A1E017-574B-1945-AF58-C185F062C154}" type="pres">
      <dgm:prSet presAssocID="{00EB1B05-DF68-4221-A803-17D5D85497B2}" presName="desTx" presStyleLbl="alignAccFollowNode1" presStyleIdx="5" presStyleCnt="6">
        <dgm:presLayoutVars/>
      </dgm:prSet>
      <dgm:spPr/>
    </dgm:pt>
  </dgm:ptLst>
  <dgm:cxnLst>
    <dgm:cxn modelId="{728F660F-5CD8-4279-85D9-C4812F24BA3C}" srcId="{97F933BC-257A-45B1-9A2D-5F7472BBE031}" destId="{423C1B3B-49EA-4F10-84B8-10BBD2E65E40}" srcOrd="0" destOrd="0" parTransId="{A78409A8-A08A-41DD-A184-D1E978C5F8BC}" sibTransId="{479070E8-F048-477D-BD86-0AE9D3EAFFA4}"/>
    <dgm:cxn modelId="{3CF79A13-A7A3-4093-84CE-B9E6CD2AD78C}" srcId="{E43AE1EB-B00C-49A7-84B4-DEF615AF3451}" destId="{EB579DE8-D5E4-46D0-B001-68343BDDCF55}" srcOrd="3" destOrd="0" parTransId="{96D0DCC6-7C7A-4F4F-95A5-C19D0061FFB2}" sibTransId="{05E2AE82-B8EE-4BAE-B112-51893B45AE8A}"/>
    <dgm:cxn modelId="{93DCB815-554E-C548-A611-F642A1A1B12E}" type="presOf" srcId="{AF8EDFBB-2E55-4346-B8CF-2DB992CBE271}" destId="{2B37FE52-F901-5240-8823-50DFFD8073F7}" srcOrd="0" destOrd="0" presId="urn:microsoft.com/office/officeart/2016/7/layout/HorizontalActionList"/>
    <dgm:cxn modelId="{20FECA1A-A3DF-BF42-BD52-067475127535}" type="presOf" srcId="{DFF8E846-FDA7-435B-8E0E-5BB03CA49210}" destId="{E813D25E-2A16-C84A-94D2-29A92C8D3103}" srcOrd="0" destOrd="0" presId="urn:microsoft.com/office/officeart/2016/7/layout/HorizontalActionList"/>
    <dgm:cxn modelId="{0A38C523-CC0D-A044-A296-6CA2E8C0E334}" type="presOf" srcId="{E43AE1EB-B00C-49A7-84B4-DEF615AF3451}" destId="{59AAAC23-98CA-E94F-B132-13283DBDF70B}" srcOrd="0" destOrd="0" presId="urn:microsoft.com/office/officeart/2016/7/layout/HorizontalActionList"/>
    <dgm:cxn modelId="{AA551D31-45C8-C64A-8F1E-0134CB03C071}" type="presOf" srcId="{4F7BC527-AAB0-4DB0-88FF-FDFB94239A86}" destId="{8087919A-748A-9F4D-8CD0-D1BB8BF16677}" srcOrd="0" destOrd="0" presId="urn:microsoft.com/office/officeart/2016/7/layout/HorizontalActionList"/>
    <dgm:cxn modelId="{DFB1793F-DED3-4530-B4D7-D973D566F2DE}" srcId="{E43AE1EB-B00C-49A7-84B4-DEF615AF3451}" destId="{00EB1B05-DF68-4221-A803-17D5D85497B2}" srcOrd="5" destOrd="0" parTransId="{10B9F2D6-8C57-4AE9-A112-DFAEDA0DC75D}" sibTransId="{DD5BB089-3CB1-4337-B4CF-00343E099701}"/>
    <dgm:cxn modelId="{C9C15745-1907-459D-8BD9-1DE05378B4D7}" srcId="{00EB1B05-DF68-4221-A803-17D5D85497B2}" destId="{AF463826-4F8D-4C39-B9C1-7B0B304CFC76}" srcOrd="0" destOrd="0" parTransId="{F00EFCFB-A2CF-4DC7-8E70-D9EDFEF86C00}" sibTransId="{DDA57687-55FD-4721-A923-0910F398C5F5}"/>
    <dgm:cxn modelId="{EFAA9663-8EC9-F045-8462-CBCDA3B71A9E}" type="presOf" srcId="{91D48E67-C139-429C-B4A3-6023DBA459E9}" destId="{DFA1F212-6FDF-4540-A693-BC42DFA77B4E}" srcOrd="0" destOrd="0" presId="urn:microsoft.com/office/officeart/2016/7/layout/HorizontalActionList"/>
    <dgm:cxn modelId="{A9973E98-C60D-414D-AEBE-CEF574257484}" type="presOf" srcId="{97F933BC-257A-45B1-9A2D-5F7472BBE031}" destId="{E9FEF7DF-ECBD-1F48-92FB-D7B2D7E28368}" srcOrd="0" destOrd="0" presId="urn:microsoft.com/office/officeart/2016/7/layout/HorizontalActionList"/>
    <dgm:cxn modelId="{848B469A-9C46-4CCC-A884-EE2B8C1F9990}" srcId="{E43AE1EB-B00C-49A7-84B4-DEF615AF3451}" destId="{97F933BC-257A-45B1-9A2D-5F7472BBE031}" srcOrd="4" destOrd="0" parTransId="{1BE432E7-2579-4741-9617-D8F5377C7BE3}" sibTransId="{780C7DCA-99D7-4271-9729-4887A80854F2}"/>
    <dgm:cxn modelId="{B2E7B8A1-CE9B-4C69-A709-74C0BBA67EA8}" srcId="{DDF7A841-137D-49CF-9126-7620531B6ABA}" destId="{DFF8E846-FDA7-435B-8E0E-5BB03CA49210}" srcOrd="0" destOrd="0" parTransId="{9761EDF3-49C5-4BA5-989A-BFF4B56E77AE}" sibTransId="{87C36528-7C01-45C7-A8F6-64AC30A7CA0C}"/>
    <dgm:cxn modelId="{08139FAB-F313-8B43-A46B-71E6567CF9F0}" type="presOf" srcId="{DDF7A841-137D-49CF-9126-7620531B6ABA}" destId="{E5C5592C-AAEE-544B-A8D2-26B715F2ED67}" srcOrd="0" destOrd="0" presId="urn:microsoft.com/office/officeart/2016/7/layout/HorizontalActionList"/>
    <dgm:cxn modelId="{06B4C6AB-87CC-B548-933D-FDD603925224}" type="presOf" srcId="{423C1B3B-49EA-4F10-84B8-10BBD2E65E40}" destId="{A3C55C03-B271-FD40-86BA-5D6AF18FFC10}" srcOrd="0" destOrd="0" presId="urn:microsoft.com/office/officeart/2016/7/layout/HorizontalActionList"/>
    <dgm:cxn modelId="{19D6FBAC-48DD-4B7D-9703-EA1B7B248C47}" srcId="{E43AE1EB-B00C-49A7-84B4-DEF615AF3451}" destId="{DDF7A841-137D-49CF-9126-7620531B6ABA}" srcOrd="1" destOrd="0" parTransId="{20AB5302-5B9C-4DD6-98BF-ADDD15A6E748}" sibTransId="{2A63CCF7-2C2E-415B-AF44-EB9FF04A5747}"/>
    <dgm:cxn modelId="{779ED7B0-1BDD-1F44-B1F6-4828E447765F}" type="presOf" srcId="{00EB1B05-DF68-4221-A803-17D5D85497B2}" destId="{67637CF3-B054-4F49-ADE6-F09EC5FE7E2D}" srcOrd="0" destOrd="0" presId="urn:microsoft.com/office/officeart/2016/7/layout/HorizontalActionList"/>
    <dgm:cxn modelId="{A86E14BA-D233-43DE-970A-BD3BE80032AA}" srcId="{AF8EDFBB-2E55-4346-B8CF-2DB992CBE271}" destId="{3560EFD5-24E2-4ADA-B566-AD7E05D13595}" srcOrd="0" destOrd="0" parTransId="{BD01892C-F507-468C-9757-A37CFDAFBFE5}" sibTransId="{F78B7560-1479-458B-9A50-44044EB104C1}"/>
    <dgm:cxn modelId="{6E4C7CBC-D104-4EE9-8A40-18484E1690E4}" srcId="{91D48E67-C139-429C-B4A3-6023DBA459E9}" destId="{4F7BC527-AAB0-4DB0-88FF-FDFB94239A86}" srcOrd="0" destOrd="0" parTransId="{9F8239C8-AE7D-43BD-A8F9-9ABF0D6676CF}" sibTransId="{4188EDA6-F21B-4798-A1C8-44CCD921D8F4}"/>
    <dgm:cxn modelId="{AC3ECECB-91B4-3544-BAF0-2890F1D2B437}" type="presOf" srcId="{EB579DE8-D5E4-46D0-B001-68343BDDCF55}" destId="{134D7E77-B5A1-274D-B958-A35B1EFAC9AF}" srcOrd="0" destOrd="0" presId="urn:microsoft.com/office/officeart/2016/7/layout/HorizontalActionList"/>
    <dgm:cxn modelId="{41F590D6-DF51-A94F-97A0-BA8E85B5DDD8}" type="presOf" srcId="{B102CA7B-2128-48D1-8E2D-EFB7001B0879}" destId="{19DEEE36-8BD1-EB42-8B70-656B6DD9D384}" srcOrd="0" destOrd="0" presId="urn:microsoft.com/office/officeart/2016/7/layout/HorizontalActionList"/>
    <dgm:cxn modelId="{65E5DFD9-A569-B547-A221-E99B1ED76E81}" type="presOf" srcId="{3560EFD5-24E2-4ADA-B566-AD7E05D13595}" destId="{EA7B4D80-4800-2D4B-81B5-BB7F225EC218}" srcOrd="0" destOrd="0" presId="urn:microsoft.com/office/officeart/2016/7/layout/HorizontalActionList"/>
    <dgm:cxn modelId="{ED9892E4-7F3F-4C15-9A42-B75271DA2A4E}" srcId="{E43AE1EB-B00C-49A7-84B4-DEF615AF3451}" destId="{AF8EDFBB-2E55-4346-B8CF-2DB992CBE271}" srcOrd="0" destOrd="0" parTransId="{0F94CFC0-0F81-4263-BF22-A7DFBB38C8FC}" sibTransId="{0E20A9CC-872A-4A0F-AB56-4B76EEEA012F}"/>
    <dgm:cxn modelId="{B038A9E9-9D29-49AC-9142-76777B2BFF53}" srcId="{EB579DE8-D5E4-46D0-B001-68343BDDCF55}" destId="{B102CA7B-2128-48D1-8E2D-EFB7001B0879}" srcOrd="0" destOrd="0" parTransId="{4BF95A5E-C2EA-4A25-B579-7437B96C26C8}" sibTransId="{7AFC01EA-AFD8-415D-9F33-36A30491D3DC}"/>
    <dgm:cxn modelId="{873FB5F8-9F6D-EA44-A6F2-729F8282C7BE}" type="presOf" srcId="{AF463826-4F8D-4C39-B9C1-7B0B304CFC76}" destId="{A7A1E017-574B-1945-AF58-C185F062C154}" srcOrd="0" destOrd="0" presId="urn:microsoft.com/office/officeart/2016/7/layout/HorizontalActionList"/>
    <dgm:cxn modelId="{350CACFF-350B-4E23-9EC4-D313B5C56395}" srcId="{E43AE1EB-B00C-49A7-84B4-DEF615AF3451}" destId="{91D48E67-C139-429C-B4A3-6023DBA459E9}" srcOrd="2" destOrd="0" parTransId="{A68DBBAB-5E58-45F4-A63C-ADA1025ACC79}" sibTransId="{683788F8-C3D2-45E8-AD69-8BE559ADD874}"/>
    <dgm:cxn modelId="{DFC19C91-2499-044C-88D1-80087A93E4D5}" type="presParOf" srcId="{59AAAC23-98CA-E94F-B132-13283DBDF70B}" destId="{74EE4E16-4A02-B849-B5EE-1B9A241BE348}" srcOrd="0" destOrd="0" presId="urn:microsoft.com/office/officeart/2016/7/layout/HorizontalActionList"/>
    <dgm:cxn modelId="{3E003C36-16BD-0046-8C0D-5C33D4F3A011}" type="presParOf" srcId="{74EE4E16-4A02-B849-B5EE-1B9A241BE348}" destId="{2B37FE52-F901-5240-8823-50DFFD8073F7}" srcOrd="0" destOrd="0" presId="urn:microsoft.com/office/officeart/2016/7/layout/HorizontalActionList"/>
    <dgm:cxn modelId="{FED46138-5C6F-0E44-92AA-A8A1FD1CE73B}" type="presParOf" srcId="{74EE4E16-4A02-B849-B5EE-1B9A241BE348}" destId="{EA7B4D80-4800-2D4B-81B5-BB7F225EC218}" srcOrd="1" destOrd="0" presId="urn:microsoft.com/office/officeart/2016/7/layout/HorizontalActionList"/>
    <dgm:cxn modelId="{0BD4DD4E-BC4C-A046-9289-CB4448D52708}" type="presParOf" srcId="{59AAAC23-98CA-E94F-B132-13283DBDF70B}" destId="{5294A0AC-03A1-764D-ACBC-4FEFAB53CB7A}" srcOrd="1" destOrd="0" presId="urn:microsoft.com/office/officeart/2016/7/layout/HorizontalActionList"/>
    <dgm:cxn modelId="{F134706C-CCF6-E348-BC48-89C8963A5E32}" type="presParOf" srcId="{59AAAC23-98CA-E94F-B132-13283DBDF70B}" destId="{5CCDACE4-9F6E-984B-8343-169EE13D2A87}" srcOrd="2" destOrd="0" presId="urn:microsoft.com/office/officeart/2016/7/layout/HorizontalActionList"/>
    <dgm:cxn modelId="{861D7149-AD2C-794D-BA2E-9E5F7C2A3AFB}" type="presParOf" srcId="{5CCDACE4-9F6E-984B-8343-169EE13D2A87}" destId="{E5C5592C-AAEE-544B-A8D2-26B715F2ED67}" srcOrd="0" destOrd="0" presId="urn:microsoft.com/office/officeart/2016/7/layout/HorizontalActionList"/>
    <dgm:cxn modelId="{1579CAAA-D258-5347-BF49-5AF2953CCE46}" type="presParOf" srcId="{5CCDACE4-9F6E-984B-8343-169EE13D2A87}" destId="{E813D25E-2A16-C84A-94D2-29A92C8D3103}" srcOrd="1" destOrd="0" presId="urn:microsoft.com/office/officeart/2016/7/layout/HorizontalActionList"/>
    <dgm:cxn modelId="{A80EE16B-3B26-0241-B141-BAD969FE5E6F}" type="presParOf" srcId="{59AAAC23-98CA-E94F-B132-13283DBDF70B}" destId="{EC68825D-E37A-594B-9E8A-9AED359F3845}" srcOrd="3" destOrd="0" presId="urn:microsoft.com/office/officeart/2016/7/layout/HorizontalActionList"/>
    <dgm:cxn modelId="{B9ADF19C-0FE6-624F-8D24-57F2097D16EE}" type="presParOf" srcId="{59AAAC23-98CA-E94F-B132-13283DBDF70B}" destId="{A280C83A-DC15-7742-B81A-9C58949FF907}" srcOrd="4" destOrd="0" presId="urn:microsoft.com/office/officeart/2016/7/layout/HorizontalActionList"/>
    <dgm:cxn modelId="{F25B31E0-5132-5148-94EB-7EA1CD9A98BF}" type="presParOf" srcId="{A280C83A-DC15-7742-B81A-9C58949FF907}" destId="{DFA1F212-6FDF-4540-A693-BC42DFA77B4E}" srcOrd="0" destOrd="0" presId="urn:microsoft.com/office/officeart/2016/7/layout/HorizontalActionList"/>
    <dgm:cxn modelId="{60E7840D-DC99-444F-A437-49BD6D4CB7A2}" type="presParOf" srcId="{A280C83A-DC15-7742-B81A-9C58949FF907}" destId="{8087919A-748A-9F4D-8CD0-D1BB8BF16677}" srcOrd="1" destOrd="0" presId="urn:microsoft.com/office/officeart/2016/7/layout/HorizontalActionList"/>
    <dgm:cxn modelId="{A9B74923-BD38-274C-8B72-F7BAA2870026}" type="presParOf" srcId="{59AAAC23-98CA-E94F-B132-13283DBDF70B}" destId="{AEE90C5B-1EB2-EB4B-A41E-7F2C6A0BA39D}" srcOrd="5" destOrd="0" presId="urn:microsoft.com/office/officeart/2016/7/layout/HorizontalActionList"/>
    <dgm:cxn modelId="{BAEEE06C-771F-B940-A170-74535661824E}" type="presParOf" srcId="{59AAAC23-98CA-E94F-B132-13283DBDF70B}" destId="{216BB6D4-5083-1641-855A-92F919BF5FE2}" srcOrd="6" destOrd="0" presId="urn:microsoft.com/office/officeart/2016/7/layout/HorizontalActionList"/>
    <dgm:cxn modelId="{81A1D739-D10D-4949-B7F8-99ADCADBFE43}" type="presParOf" srcId="{216BB6D4-5083-1641-855A-92F919BF5FE2}" destId="{134D7E77-B5A1-274D-B958-A35B1EFAC9AF}" srcOrd="0" destOrd="0" presId="urn:microsoft.com/office/officeart/2016/7/layout/HorizontalActionList"/>
    <dgm:cxn modelId="{4C74A0D3-57E1-3247-BAE9-3EFDBDC5F245}" type="presParOf" srcId="{216BB6D4-5083-1641-855A-92F919BF5FE2}" destId="{19DEEE36-8BD1-EB42-8B70-656B6DD9D384}" srcOrd="1" destOrd="0" presId="urn:microsoft.com/office/officeart/2016/7/layout/HorizontalActionList"/>
    <dgm:cxn modelId="{FAF817F8-0246-7E45-A503-C9A6BE808FBE}" type="presParOf" srcId="{59AAAC23-98CA-E94F-B132-13283DBDF70B}" destId="{5B6CC1B3-4A32-2042-AA89-4BB1B6C615B2}" srcOrd="7" destOrd="0" presId="urn:microsoft.com/office/officeart/2016/7/layout/HorizontalActionList"/>
    <dgm:cxn modelId="{EEABFAC8-E80A-224C-94A1-76D7FD94334B}" type="presParOf" srcId="{59AAAC23-98CA-E94F-B132-13283DBDF70B}" destId="{FED1D5C6-47C3-9D40-8344-AC9FCED546C5}" srcOrd="8" destOrd="0" presId="urn:microsoft.com/office/officeart/2016/7/layout/HorizontalActionList"/>
    <dgm:cxn modelId="{3F1BD1AA-BF19-B147-BF7D-F8D7C83BE06C}" type="presParOf" srcId="{FED1D5C6-47C3-9D40-8344-AC9FCED546C5}" destId="{E9FEF7DF-ECBD-1F48-92FB-D7B2D7E28368}" srcOrd="0" destOrd="0" presId="urn:microsoft.com/office/officeart/2016/7/layout/HorizontalActionList"/>
    <dgm:cxn modelId="{DF3FEAAC-7A3D-D342-A367-3744002D5620}" type="presParOf" srcId="{FED1D5C6-47C3-9D40-8344-AC9FCED546C5}" destId="{A3C55C03-B271-FD40-86BA-5D6AF18FFC10}" srcOrd="1" destOrd="0" presId="urn:microsoft.com/office/officeart/2016/7/layout/HorizontalActionList"/>
    <dgm:cxn modelId="{60A834F3-E5F7-C242-B641-BF80C1CD3C31}" type="presParOf" srcId="{59AAAC23-98CA-E94F-B132-13283DBDF70B}" destId="{64BD63AD-9AEF-0345-9239-85EF22EA7E0F}" srcOrd="9" destOrd="0" presId="urn:microsoft.com/office/officeart/2016/7/layout/HorizontalActionList"/>
    <dgm:cxn modelId="{AF936791-BE1B-E34B-A7CA-91542E5EF72A}" type="presParOf" srcId="{59AAAC23-98CA-E94F-B132-13283DBDF70B}" destId="{ABA9E00B-6EF5-D447-99D4-0C1DCA937523}" srcOrd="10" destOrd="0" presId="urn:microsoft.com/office/officeart/2016/7/layout/HorizontalActionList"/>
    <dgm:cxn modelId="{EA81AE1F-2BD9-7C40-9888-6873808B9B14}" type="presParOf" srcId="{ABA9E00B-6EF5-D447-99D4-0C1DCA937523}" destId="{67637CF3-B054-4F49-ADE6-F09EC5FE7E2D}" srcOrd="0" destOrd="0" presId="urn:microsoft.com/office/officeart/2016/7/layout/HorizontalActionList"/>
    <dgm:cxn modelId="{C9ED9514-B2F9-FF4E-9802-38164372D8E8}" type="presParOf" srcId="{ABA9E00B-6EF5-D447-99D4-0C1DCA937523}" destId="{A7A1E017-574B-1945-AF58-C185F062C154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37FE52-F901-5240-8823-50DFFD8073F7}">
      <dsp:nvSpPr>
        <dsp:cNvPr id="0" name=""/>
        <dsp:cNvSpPr/>
      </dsp:nvSpPr>
      <dsp:spPr>
        <a:xfrm>
          <a:off x="18069" y="1014675"/>
          <a:ext cx="1777183" cy="533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437" tIns="140437" rIns="140437" bIns="14043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Baskerville Old Face" panose="02020602080505020303" pitchFamily="18" charset="77"/>
            </a:rPr>
            <a:t>Model I</a:t>
          </a:r>
        </a:p>
      </dsp:txBody>
      <dsp:txXfrm>
        <a:off x="18069" y="1014675"/>
        <a:ext cx="1777183" cy="533155"/>
      </dsp:txXfrm>
    </dsp:sp>
    <dsp:sp modelId="{EA7B4D80-4800-2D4B-81B5-BB7F225EC218}">
      <dsp:nvSpPr>
        <dsp:cNvPr id="0" name=""/>
        <dsp:cNvSpPr/>
      </dsp:nvSpPr>
      <dsp:spPr>
        <a:xfrm>
          <a:off x="18069" y="1547830"/>
          <a:ext cx="1777183" cy="25108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546" tIns="175546" rIns="175546" bIns="175546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skerville Old Face" panose="02020602080505020303" pitchFamily="18" charset="77"/>
            </a:rPr>
            <a:t>Left/right: Regresses committee representativeness on the left–right dimension on </a:t>
          </a:r>
          <a:r>
            <a:rPr lang="en-US" sz="1500" b="1" kern="1200" dirty="0">
              <a:latin typeface="Baskerville Old Face" panose="02020602080505020303" pitchFamily="18" charset="77"/>
            </a:rPr>
            <a:t>committee popularity </a:t>
          </a:r>
          <a:r>
            <a:rPr lang="en-US" sz="1500" kern="1200" dirty="0">
              <a:latin typeface="Baskerville Old Face" panose="02020602080505020303" pitchFamily="18" charset="77"/>
            </a:rPr>
            <a:t>(percentage measure).</a:t>
          </a:r>
        </a:p>
      </dsp:txBody>
      <dsp:txXfrm>
        <a:off x="18069" y="1547830"/>
        <a:ext cx="1777183" cy="2510871"/>
      </dsp:txXfrm>
    </dsp:sp>
    <dsp:sp modelId="{E5C5592C-AAEE-544B-A8D2-26B715F2ED67}">
      <dsp:nvSpPr>
        <dsp:cNvPr id="0" name=""/>
        <dsp:cNvSpPr/>
      </dsp:nvSpPr>
      <dsp:spPr>
        <a:xfrm>
          <a:off x="1903041" y="1014675"/>
          <a:ext cx="1777183" cy="533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437" tIns="140437" rIns="140437" bIns="14043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Baskerville Old Face" panose="02020602080505020303" pitchFamily="18" charset="77"/>
            </a:rPr>
            <a:t>Model II</a:t>
          </a:r>
        </a:p>
      </dsp:txBody>
      <dsp:txXfrm>
        <a:off x="1903041" y="1014675"/>
        <a:ext cx="1777183" cy="533155"/>
      </dsp:txXfrm>
    </dsp:sp>
    <dsp:sp modelId="{E813D25E-2A16-C84A-94D2-29A92C8D3103}">
      <dsp:nvSpPr>
        <dsp:cNvPr id="0" name=""/>
        <dsp:cNvSpPr/>
      </dsp:nvSpPr>
      <dsp:spPr>
        <a:xfrm>
          <a:off x="1903041" y="1547830"/>
          <a:ext cx="1777183" cy="25108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546" tIns="175546" rIns="175546" bIns="175546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skerville Old Face" panose="02020602080505020303" pitchFamily="18" charset="77"/>
            </a:rPr>
            <a:t>Left/right: Regresses committee representativeness on the left–right dimension on </a:t>
          </a:r>
          <a:r>
            <a:rPr lang="en-US" sz="1500" b="1" kern="1200" dirty="0">
              <a:latin typeface="Baskerville Old Face" panose="02020602080505020303" pitchFamily="18" charset="77"/>
            </a:rPr>
            <a:t>committee popularity </a:t>
          </a:r>
          <a:r>
            <a:rPr lang="en-US" sz="1500" kern="1200" dirty="0">
              <a:latin typeface="Baskerville Old Face" panose="02020602080505020303" pitchFamily="18" charset="77"/>
            </a:rPr>
            <a:t>using an ordinal rank measure.</a:t>
          </a:r>
        </a:p>
      </dsp:txBody>
      <dsp:txXfrm>
        <a:off x="1903041" y="1547830"/>
        <a:ext cx="1777183" cy="2510871"/>
      </dsp:txXfrm>
    </dsp:sp>
    <dsp:sp modelId="{DFA1F212-6FDF-4540-A693-BC42DFA77B4E}">
      <dsp:nvSpPr>
        <dsp:cNvPr id="0" name=""/>
        <dsp:cNvSpPr/>
      </dsp:nvSpPr>
      <dsp:spPr>
        <a:xfrm>
          <a:off x="3788014" y="1014675"/>
          <a:ext cx="1777183" cy="533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437" tIns="140437" rIns="140437" bIns="14043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latin typeface="Baskerville Old Face" panose="02020602080505020303" pitchFamily="18" charset="77"/>
            </a:rPr>
            <a:t>Model III</a:t>
          </a:r>
        </a:p>
      </dsp:txBody>
      <dsp:txXfrm>
        <a:off x="3788014" y="1014675"/>
        <a:ext cx="1777183" cy="533155"/>
      </dsp:txXfrm>
    </dsp:sp>
    <dsp:sp modelId="{8087919A-748A-9F4D-8CD0-D1BB8BF16677}">
      <dsp:nvSpPr>
        <dsp:cNvPr id="0" name=""/>
        <dsp:cNvSpPr/>
      </dsp:nvSpPr>
      <dsp:spPr>
        <a:xfrm>
          <a:off x="3788014" y="1547830"/>
          <a:ext cx="1777183" cy="25108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546" tIns="175546" rIns="175546" bIns="175546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skerville Old Face" panose="02020602080505020303" pitchFamily="18" charset="77"/>
            </a:rPr>
            <a:t>Left/right: Regresses committee representativeness on the left–right dimension on </a:t>
          </a:r>
          <a:r>
            <a:rPr lang="en-US" sz="1500" b="1" kern="1200" dirty="0">
              <a:latin typeface="Baskerville Old Face" panose="02020602080505020303" pitchFamily="18" charset="77"/>
            </a:rPr>
            <a:t>committee power</a:t>
          </a:r>
          <a:r>
            <a:rPr lang="en-US" sz="1500" kern="1200" dirty="0">
              <a:latin typeface="Baskerville Old Face" panose="02020602080505020303" pitchFamily="18" charset="77"/>
            </a:rPr>
            <a:t>.</a:t>
          </a:r>
        </a:p>
      </dsp:txBody>
      <dsp:txXfrm>
        <a:off x="3788014" y="1547830"/>
        <a:ext cx="1777183" cy="2510871"/>
      </dsp:txXfrm>
    </dsp:sp>
    <dsp:sp modelId="{134D7E77-B5A1-274D-B958-A35B1EFAC9AF}">
      <dsp:nvSpPr>
        <dsp:cNvPr id="0" name=""/>
        <dsp:cNvSpPr/>
      </dsp:nvSpPr>
      <dsp:spPr>
        <a:xfrm>
          <a:off x="5672987" y="1014675"/>
          <a:ext cx="1777183" cy="533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437" tIns="140437" rIns="140437" bIns="14043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Baskerville Old Face" panose="02020602080505020303" pitchFamily="18" charset="77"/>
            </a:rPr>
            <a:t>Model IV</a:t>
          </a:r>
        </a:p>
      </dsp:txBody>
      <dsp:txXfrm>
        <a:off x="5672987" y="1014675"/>
        <a:ext cx="1777183" cy="533155"/>
      </dsp:txXfrm>
    </dsp:sp>
    <dsp:sp modelId="{19DEEE36-8BD1-EB42-8B70-656B6DD9D384}">
      <dsp:nvSpPr>
        <dsp:cNvPr id="0" name=""/>
        <dsp:cNvSpPr/>
      </dsp:nvSpPr>
      <dsp:spPr>
        <a:xfrm>
          <a:off x="5672987" y="1547830"/>
          <a:ext cx="1777183" cy="25108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546" tIns="175546" rIns="175546" bIns="175546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skerville Old Face" panose="02020602080505020303" pitchFamily="18" charset="77"/>
            </a:rPr>
            <a:t>Pro/anti EU: Regresses committee representativeness on the pro/anti EU dimension on </a:t>
          </a:r>
          <a:r>
            <a:rPr lang="en-US" sz="1500" b="1" kern="1200" dirty="0">
              <a:latin typeface="Baskerville Old Face" panose="02020602080505020303" pitchFamily="18" charset="77"/>
            </a:rPr>
            <a:t>committee popularity </a:t>
          </a:r>
          <a:r>
            <a:rPr lang="en-US" sz="1500" kern="1200" dirty="0">
              <a:latin typeface="Baskerville Old Face" panose="02020602080505020303" pitchFamily="18" charset="77"/>
            </a:rPr>
            <a:t>(percentage measure).</a:t>
          </a:r>
        </a:p>
      </dsp:txBody>
      <dsp:txXfrm>
        <a:off x="5672987" y="1547830"/>
        <a:ext cx="1777183" cy="2510871"/>
      </dsp:txXfrm>
    </dsp:sp>
    <dsp:sp modelId="{E9FEF7DF-ECBD-1F48-92FB-D7B2D7E28368}">
      <dsp:nvSpPr>
        <dsp:cNvPr id="0" name=""/>
        <dsp:cNvSpPr/>
      </dsp:nvSpPr>
      <dsp:spPr>
        <a:xfrm>
          <a:off x="7557960" y="1014675"/>
          <a:ext cx="1777183" cy="533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437" tIns="140437" rIns="140437" bIns="14043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Baskerville Old Face" panose="02020602080505020303" pitchFamily="18" charset="77"/>
            </a:rPr>
            <a:t>Model V</a:t>
          </a:r>
        </a:p>
      </dsp:txBody>
      <dsp:txXfrm>
        <a:off x="7557960" y="1014675"/>
        <a:ext cx="1777183" cy="533155"/>
      </dsp:txXfrm>
    </dsp:sp>
    <dsp:sp modelId="{A3C55C03-B271-FD40-86BA-5D6AF18FFC10}">
      <dsp:nvSpPr>
        <dsp:cNvPr id="0" name=""/>
        <dsp:cNvSpPr/>
      </dsp:nvSpPr>
      <dsp:spPr>
        <a:xfrm>
          <a:off x="7557960" y="1547830"/>
          <a:ext cx="1777183" cy="25108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546" tIns="175546" rIns="175546" bIns="175546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skerville Old Face" panose="02020602080505020303" pitchFamily="18" charset="77"/>
            </a:rPr>
            <a:t>Pro/anti EU: Regresses committee representativeness on the pro/anti EU dimension on </a:t>
          </a:r>
          <a:r>
            <a:rPr lang="en-US" sz="1500" b="1" kern="1200" dirty="0">
              <a:latin typeface="Baskerville Old Face" panose="02020602080505020303" pitchFamily="18" charset="77"/>
            </a:rPr>
            <a:t>committee popularity </a:t>
          </a:r>
          <a:r>
            <a:rPr lang="en-US" sz="1500" kern="1200" dirty="0">
              <a:latin typeface="Baskerville Old Face" panose="02020602080505020303" pitchFamily="18" charset="77"/>
            </a:rPr>
            <a:t>using an ordinal rank measure.</a:t>
          </a:r>
        </a:p>
      </dsp:txBody>
      <dsp:txXfrm>
        <a:off x="7557960" y="1547830"/>
        <a:ext cx="1777183" cy="2510871"/>
      </dsp:txXfrm>
    </dsp:sp>
    <dsp:sp modelId="{67637CF3-B054-4F49-ADE6-F09EC5FE7E2D}">
      <dsp:nvSpPr>
        <dsp:cNvPr id="0" name=""/>
        <dsp:cNvSpPr/>
      </dsp:nvSpPr>
      <dsp:spPr>
        <a:xfrm>
          <a:off x="9442933" y="1014675"/>
          <a:ext cx="1777183" cy="533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437" tIns="140437" rIns="140437" bIns="14043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Baskerville Old Face" panose="02020602080505020303" pitchFamily="18" charset="77"/>
            </a:rPr>
            <a:t>Model VI</a:t>
          </a:r>
        </a:p>
      </dsp:txBody>
      <dsp:txXfrm>
        <a:off x="9442933" y="1014675"/>
        <a:ext cx="1777183" cy="533155"/>
      </dsp:txXfrm>
    </dsp:sp>
    <dsp:sp modelId="{A7A1E017-574B-1945-AF58-C185F062C154}">
      <dsp:nvSpPr>
        <dsp:cNvPr id="0" name=""/>
        <dsp:cNvSpPr/>
      </dsp:nvSpPr>
      <dsp:spPr>
        <a:xfrm>
          <a:off x="9442933" y="1547830"/>
          <a:ext cx="1777183" cy="25108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546" tIns="175546" rIns="175546" bIns="175546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skerville Old Face" panose="02020602080505020303" pitchFamily="18" charset="77"/>
            </a:rPr>
            <a:t>Pro/anti EU: Regresses committee representativeness on the pro/anti EU dimension on </a:t>
          </a:r>
          <a:r>
            <a:rPr lang="en-US" sz="1500" b="1" kern="1200" dirty="0">
              <a:latin typeface="Baskerville Old Face" panose="02020602080505020303" pitchFamily="18" charset="77"/>
            </a:rPr>
            <a:t>committee power</a:t>
          </a:r>
          <a:r>
            <a:rPr lang="en-US" sz="1500" kern="1200" dirty="0">
              <a:latin typeface="Baskerville Old Face" panose="02020602080505020303" pitchFamily="18" charset="77"/>
            </a:rPr>
            <a:t>.</a:t>
          </a:r>
        </a:p>
      </dsp:txBody>
      <dsp:txXfrm>
        <a:off x="9442933" y="1547830"/>
        <a:ext cx="1777183" cy="25108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3417-12F6-AC23-540D-E8751E69D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C961D-ED2E-8F22-E81A-E65E7F38B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8E145-38C1-FB12-B772-70322129A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B94C8-CA58-2C4E-A738-2265FD1AB843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B75D9-F503-591E-F338-CAAC2FF4F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6599C-3F1D-F965-2D9C-38A9EBC1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3375-4E25-B747-91A7-501FF8FFE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6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C8368-D24C-09D9-76E1-EFE9A2960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618A0-9A89-63E1-4A0F-885CB1048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1A749-557B-F539-9E47-155B33694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B94C8-CA58-2C4E-A738-2265FD1AB843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A79A1-102E-5504-382A-3EDB51880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F8C64-3485-6CFE-63A9-D000F788E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3375-4E25-B747-91A7-501FF8FFE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7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379A-38EA-BB88-0E96-7E7C791F1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0ADBB-A012-1EF0-B9B1-9BFCD209B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8A884-A4EF-CE8C-3A86-0FEDEF7EB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B94C8-CA58-2C4E-A738-2265FD1AB843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244DD-EEA0-B87A-709F-0F41EC4B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7189E-9871-7171-7347-754E03690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3375-4E25-B747-91A7-501FF8FFE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33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A3E65-0AF5-6994-DEF0-2428E620F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3071C-AF0C-C9A3-7428-1E45DAAC4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732C0-A30E-52D1-BFD2-64776E7B4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6726A-8DD2-EDC8-21F6-CD7CE2D31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B94C8-CA58-2C4E-A738-2265FD1AB843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B57E3-EDC0-201E-D371-87D9101C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5DB54-C0D9-2AED-11E9-8A570A5F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3375-4E25-B747-91A7-501FF8FFE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0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7BEC-59B7-3C3B-9D67-410DAF7A9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AFDB7-0A43-1D82-5ADF-F5AD8F966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0D2A96-BE34-65B6-8BF9-E72A17F26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5238A9-59CF-0808-123E-67398874E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079333-302C-0F3C-C04C-FFD52397E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223F8-431A-D1F6-DC05-7E6E63BC1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B94C8-CA58-2C4E-A738-2265FD1AB843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9474DD-4A3E-D36C-2D9A-D6918CED7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DFF975-CACB-EB80-556E-6C0ACB5F8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3375-4E25-B747-91A7-501FF8FFE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9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92FD8-0607-4C5F-1016-869D231C6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177B0E-9132-475C-8E40-D10C8B48E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B94C8-CA58-2C4E-A738-2265FD1AB843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6AC80-C692-CC7F-0184-FCC3B8575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2A876-18BA-B5B8-580D-934AA3CD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3375-4E25-B747-91A7-501FF8FFE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7CB2C7-F20C-AE54-C9F9-F1118B37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B94C8-CA58-2C4E-A738-2265FD1AB843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76531A-E87B-B1BE-C9B5-AF658CF4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B6E62-D6A5-8BDC-9818-BE6B36D4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3375-4E25-B747-91A7-501FF8FFE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51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3AEB-9F01-455C-FD66-6393531FD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CFB5B-EF48-FEFC-9D43-2437CB54F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52283-982D-7E59-BE14-254D68AA5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9AFA1-A354-2030-EB23-EFA113F9E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B94C8-CA58-2C4E-A738-2265FD1AB843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78D1B-79A7-5B71-2481-ACBC8D88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0BB7C-DD9F-A205-7C33-AA5BBAEFE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3375-4E25-B747-91A7-501FF8FFE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04DC6-C4E1-57D1-8EF0-676298C78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90626C-CC54-4724-B1BD-8D1ECF901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A3E33-D4F1-3A07-4F29-74A5B6829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E74AD-42F4-F467-02E4-BBBF4D321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B94C8-CA58-2C4E-A738-2265FD1AB843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14B0A-20B1-BF3E-6C69-B01DE734F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A853A-FEAF-B5E9-8CC5-C988A6B7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3375-4E25-B747-91A7-501FF8FFE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35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5524B-9DCE-416A-BBDA-2DAC70758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08F05-DE8B-B9BF-08D6-2D61881FE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AAAE1-A47B-3EBA-3AB2-29E267FD6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B94C8-CA58-2C4E-A738-2265FD1AB843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C69A-30F4-DB1B-EA77-CEC8C9F80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C049F-373C-682F-8859-BEAB2048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3375-4E25-B747-91A7-501FF8FFE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69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F51B4D-223C-933B-4F00-C2A62F1D3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4E59D-FA77-940A-480A-22AE699B2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3FE42-79FF-6EF8-0442-E1C1EFCB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B94C8-CA58-2C4E-A738-2265FD1AB843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44EEB-4468-F9A6-03E6-010A775D4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8413E-2CE4-A49D-F47A-5727B6B88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3375-4E25-B747-91A7-501FF8FFE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19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E139D0-159A-7642-57F9-E6AAD748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D10B1-5000-4973-9E91-2167F4B83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ED599-E7DA-1D35-AFAA-0275CE8981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B94C8-CA58-2C4E-A738-2265FD1AB843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1535A-5DA8-539D-2C55-06A7F482C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E9CAD-C236-9523-C38E-6284D8EB6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03375-4E25-B747-91A7-501FF8FFE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47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in a meeting&#10;&#10;AI-generated content may be incorrect.">
            <a:extLst>
              <a:ext uri="{FF2B5EF4-FFF2-40B4-BE49-F238E27FC236}">
                <a16:creationId xmlns:a16="http://schemas.microsoft.com/office/drawing/2014/main" id="{D3F3E93B-9DB5-9084-5F12-42880310F4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483456-46F8-6FB8-38C2-7C8B2440C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sz="4700" dirty="0">
                <a:solidFill>
                  <a:srgbClr val="FFFFFF"/>
                </a:solidFill>
                <a:latin typeface="Baskerville Old Face" panose="02020602080505020303" pitchFamily="18" charset="77"/>
              </a:rPr>
              <a:t>Hurka and </a:t>
            </a:r>
            <a:r>
              <a:rPr lang="en-US" sz="4700" dirty="0" err="1">
                <a:solidFill>
                  <a:srgbClr val="FFFFFF"/>
                </a:solidFill>
                <a:latin typeface="Baskerville Old Face" panose="02020602080505020303" pitchFamily="18" charset="77"/>
              </a:rPr>
              <a:t>Kaplaner</a:t>
            </a:r>
            <a:r>
              <a:rPr lang="en-US" sz="4700" dirty="0">
                <a:solidFill>
                  <a:srgbClr val="FFFFFF"/>
                </a:solidFill>
                <a:latin typeface="Baskerville Old Face" panose="02020602080505020303" pitchFamily="18" charset="77"/>
              </a:rPr>
              <a:t> (2020): </a:t>
            </a:r>
            <a:r>
              <a:rPr lang="en-IE" sz="4700" dirty="0">
                <a:solidFill>
                  <a:srgbClr val="FFFFFF"/>
                </a:solidFill>
                <a:latin typeface="Baskerville Old Face" panose="02020602080505020303" pitchFamily="18" charset="77"/>
              </a:rPr>
              <a:t>Are popular and powerful committees</a:t>
            </a:r>
            <a:br>
              <a:rPr lang="en-IE" sz="4700" dirty="0">
                <a:solidFill>
                  <a:srgbClr val="FFFFFF"/>
                </a:solidFill>
                <a:latin typeface="Baskerville Old Face" panose="02020602080505020303" pitchFamily="18" charset="77"/>
              </a:rPr>
            </a:br>
            <a:r>
              <a:rPr lang="en-IE" sz="4700" dirty="0">
                <a:solidFill>
                  <a:srgbClr val="FFFFFF"/>
                </a:solidFill>
                <a:latin typeface="Baskerville Old Face" panose="02020602080505020303" pitchFamily="18" charset="77"/>
              </a:rPr>
              <a:t>more representative? Evidence from</a:t>
            </a:r>
            <a:br>
              <a:rPr lang="en-IE" sz="4700" dirty="0">
                <a:solidFill>
                  <a:srgbClr val="FFFFFF"/>
                </a:solidFill>
                <a:latin typeface="Baskerville Old Face" panose="02020602080505020303" pitchFamily="18" charset="77"/>
              </a:rPr>
            </a:br>
            <a:r>
              <a:rPr lang="en-IE" sz="4700" dirty="0">
                <a:solidFill>
                  <a:srgbClr val="FFFFFF"/>
                </a:solidFill>
                <a:latin typeface="Baskerville Old Face" panose="02020602080505020303" pitchFamily="18" charset="77"/>
              </a:rPr>
              <a:t>the 9th European Parliament </a:t>
            </a:r>
            <a:endParaRPr lang="en-US" sz="4700" i="1" dirty="0">
              <a:solidFill>
                <a:srgbClr val="FFFFFF"/>
              </a:solidFill>
              <a:latin typeface="Baskerville Old Face" panose="02020602080505020303" pitchFamily="18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293B7-9B6B-539D-3540-DE24995D6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3"/>
            <a:ext cx="9144000" cy="220986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Baskerville Old Face" panose="02020602080505020303" pitchFamily="18" charset="77"/>
              </a:rPr>
              <a:t>Quantitative Methods II</a:t>
            </a:r>
          </a:p>
          <a:p>
            <a:r>
              <a:rPr lang="en-US" sz="2000" dirty="0">
                <a:solidFill>
                  <a:srgbClr val="FFFFFF"/>
                </a:solidFill>
                <a:latin typeface="Baskerville Old Face" panose="02020602080505020303" pitchFamily="18" charset="77"/>
              </a:rPr>
              <a:t>Mairi Kachur, PhD Candidate</a:t>
            </a:r>
          </a:p>
          <a:p>
            <a:r>
              <a:rPr lang="en-US" sz="2000" dirty="0">
                <a:solidFill>
                  <a:srgbClr val="FFFFFF"/>
                </a:solidFill>
                <a:latin typeface="Baskerville Old Face" panose="02020602080505020303" pitchFamily="18" charset="77"/>
              </a:rPr>
              <a:t>Lecturer: Jeffrey Ziegler</a:t>
            </a:r>
          </a:p>
          <a:p>
            <a:r>
              <a:rPr lang="en-US" sz="2000" dirty="0">
                <a:solidFill>
                  <a:srgbClr val="FFFFFF"/>
                </a:solidFill>
                <a:latin typeface="Baskerville Old Face" panose="02020602080505020303" pitchFamily="18" charset="77"/>
              </a:rPr>
              <a:t>10 April 2026</a:t>
            </a:r>
          </a:p>
        </p:txBody>
      </p:sp>
    </p:spTree>
    <p:extLst>
      <p:ext uri="{BB962C8B-B14F-4D97-AF65-F5344CB8AC3E}">
        <p14:creationId xmlns:p14="http://schemas.microsoft.com/office/powerpoint/2010/main" val="226440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raising their hands&#10;&#10;AI-generated content may be incorrect.">
            <a:extLst>
              <a:ext uri="{FF2B5EF4-FFF2-40B4-BE49-F238E27FC236}">
                <a16:creationId xmlns:a16="http://schemas.microsoft.com/office/drawing/2014/main" id="{CEEE2343-6588-0BDA-2994-A59424496A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9FC63F-7CF4-81ED-C5CE-E4CB4D071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Baskerville Old Face" panose="02020602080505020303" pitchFamily="18" charset="77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78E1A-2F94-81AC-C2A5-661717A2D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891862"/>
            <a:ext cx="3323897" cy="4761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400" dirty="0">
                <a:latin typeface="Baskerville Old Face" panose="02020602080505020303" pitchFamily="18" charset="77"/>
              </a:rPr>
              <a:t>Paper assesses representativeness of the committees of the 9th European Parliament (EP) (2019-2024).</a:t>
            </a:r>
          </a:p>
          <a:p>
            <a:pPr marL="0" indent="0">
              <a:buNone/>
            </a:pPr>
            <a:r>
              <a:rPr lang="en-IE" sz="2400" dirty="0">
                <a:latin typeface="Baskerville Old Face" panose="02020602080505020303" pitchFamily="18" charset="77"/>
              </a:rPr>
              <a:t>Compares committee preference distributions with Plenary on the left/right and pro/anti EU dimension for both popular and powerful committees.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50066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8FCAB-4A57-89E2-8B21-B144F2E61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Data and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1F6A5-B106-4657-748D-3B2C77BA7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50" y="1569869"/>
            <a:ext cx="5363690" cy="492300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E" sz="2400" u="sng" dirty="0">
                <a:latin typeface="Baskerville Old Face" panose="02020602080505020303" pitchFamily="18" charset="77"/>
              </a:rPr>
              <a:t>Hypothesis</a:t>
            </a:r>
            <a:r>
              <a:rPr lang="en-IE" sz="2400" dirty="0">
                <a:latin typeface="Baskerville Old Face" panose="02020602080505020303" pitchFamily="18" charset="77"/>
              </a:rPr>
              <a:t>: </a:t>
            </a:r>
            <a:r>
              <a:rPr lang="en-IE" sz="2400" b="1" i="1" dirty="0">
                <a:latin typeface="Baskerville Old Face" panose="02020602080505020303" pitchFamily="18" charset="77"/>
              </a:rPr>
              <a:t>More popular and more powerful committees are more representative of the plenary on key dimensions of political conflict than less popular and less powerful committees</a:t>
            </a:r>
            <a:r>
              <a:rPr lang="en-IE" sz="2400" dirty="0">
                <a:latin typeface="Baskerville Old Face" panose="02020602080505020303" pitchFamily="18" charset="77"/>
              </a:rPr>
              <a:t>.</a:t>
            </a:r>
            <a:endParaRPr lang="en-IE" sz="2400" b="1" u="sng" dirty="0">
              <a:latin typeface="Baskerville Old Face" panose="02020602080505020303" pitchFamily="18" charset="77"/>
            </a:endParaRPr>
          </a:p>
          <a:p>
            <a:pPr marL="0" indent="0" algn="just">
              <a:buNone/>
            </a:pPr>
            <a:r>
              <a:rPr lang="en-IE" sz="2400" b="1" u="sng" dirty="0">
                <a:latin typeface="Baskerville Old Face" panose="02020602080505020303" pitchFamily="18" charset="77"/>
              </a:rPr>
              <a:t>Data</a:t>
            </a:r>
            <a:r>
              <a:rPr lang="en-IE" sz="2400" dirty="0">
                <a:latin typeface="Baskerville Old Face" panose="02020602080505020303" pitchFamily="18" charset="77"/>
              </a:rPr>
              <a:t>: Combine new data on committee memberships in the ninth EP with data on policy preferences of national parties from the Chapel Hill Expert Survey (CHES).</a:t>
            </a:r>
          </a:p>
          <a:p>
            <a:pPr marL="0" indent="0" algn="just">
              <a:buNone/>
            </a:pPr>
            <a:r>
              <a:rPr lang="en-IE" sz="2400" b="1" u="sng" dirty="0">
                <a:latin typeface="Baskerville Old Face" panose="02020602080505020303" pitchFamily="18" charset="77"/>
              </a:rPr>
              <a:t>Approach</a:t>
            </a:r>
            <a:r>
              <a:rPr lang="en-IE" sz="2400" dirty="0">
                <a:latin typeface="Baskerville Old Face" panose="02020602080505020303" pitchFamily="18" charset="77"/>
              </a:rPr>
              <a:t>: Calculate the extent to which the preference distributions on left/right and pro/anti EU dimensions of committees and the plenary overlap.</a:t>
            </a:r>
          </a:p>
        </p:txBody>
      </p:sp>
      <p:pic>
        <p:nvPicPr>
          <p:cNvPr id="7" name="Picture 6" descr="A graph of overlap between value and overlap&#10;&#10;AI-generated content may be incorrect.">
            <a:extLst>
              <a:ext uri="{FF2B5EF4-FFF2-40B4-BE49-F238E27FC236}">
                <a16:creationId xmlns:a16="http://schemas.microsoft.com/office/drawing/2014/main" id="{6A6FEAE2-9BBB-1AD7-843D-039A5D738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69870"/>
            <a:ext cx="5579751" cy="37182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43CFAF-BADF-D99B-CDEC-1B4486CE167B}"/>
              </a:ext>
            </a:extLst>
          </p:cNvPr>
          <p:cNvSpPr txBox="1"/>
          <p:nvPr/>
        </p:nvSpPr>
        <p:spPr>
          <a:xfrm>
            <a:off x="6479628" y="5549462"/>
            <a:ext cx="5344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77"/>
              </a:rPr>
              <a:t>Figure: </a:t>
            </a:r>
            <a:r>
              <a:rPr lang="en-IE" dirty="0">
                <a:latin typeface="Baskerville Old Face" panose="02020602080505020303" pitchFamily="18" charset="77"/>
              </a:rPr>
              <a:t>Simulation of two distributions with the same mean, median and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2098346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1,403,800+ Europe Flag Stock Photos, Pictures &amp; Royalty-Free Images -  iStock | Europe flag icon, Europe flag vector, Europe flag bunting">
            <a:extLst>
              <a:ext uri="{FF2B5EF4-FFF2-40B4-BE49-F238E27FC236}">
                <a16:creationId xmlns:a16="http://schemas.microsoft.com/office/drawing/2014/main" id="{43919C46-297F-6D2D-BB62-6247D5D40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1435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0F07C2-3318-3EA2-3A6E-2281F1C76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C930C-D12B-314A-8244-CC60D016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428"/>
            <a:ext cx="10515600" cy="52656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E" dirty="0">
                <a:latin typeface="Baskerville Old Face" panose="02020602080505020303" pitchFamily="18" charset="77"/>
              </a:rPr>
              <a:t>Test for representativeness on 2 dimensions using CHES data (dependent variable): </a:t>
            </a:r>
          </a:p>
          <a:p>
            <a:pPr lvl="1" algn="just"/>
            <a:r>
              <a:rPr lang="en-IE" dirty="0">
                <a:latin typeface="Baskerville Old Face" panose="02020602080505020303" pitchFamily="18" charset="77"/>
              </a:rPr>
              <a:t>general left/right dimension, ranging from 0 (extreme left) to 10 (extreme right); and </a:t>
            </a:r>
          </a:p>
          <a:p>
            <a:pPr lvl="1" algn="just"/>
            <a:r>
              <a:rPr lang="en-IE" dirty="0">
                <a:latin typeface="Baskerville Old Face" panose="02020602080505020303" pitchFamily="18" charset="77"/>
              </a:rPr>
              <a:t>pro/anti EU dimension, ranging from 1 (strongly opposed to European integration) to 7 (strongly in favour).</a:t>
            </a:r>
          </a:p>
          <a:p>
            <a:pPr lvl="1" algn="just"/>
            <a:endParaRPr lang="en-IE" dirty="0">
              <a:latin typeface="Baskerville Old Face" panose="02020602080505020303" pitchFamily="18" charset="77"/>
            </a:endParaRPr>
          </a:p>
          <a:p>
            <a:pPr marL="0" indent="0" algn="just">
              <a:buNone/>
            </a:pPr>
            <a:r>
              <a:rPr lang="en-IE" dirty="0">
                <a:latin typeface="Baskerville Old Face" panose="02020602080505020303" pitchFamily="18" charset="77"/>
              </a:rPr>
              <a:t>Committee power and popularity (independent variable): </a:t>
            </a:r>
          </a:p>
          <a:p>
            <a:pPr lvl="1" algn="just"/>
            <a:r>
              <a:rPr lang="en-IE" u="sng" dirty="0">
                <a:latin typeface="Baskerville Old Face" panose="02020602080505020303" pitchFamily="18" charset="77"/>
              </a:rPr>
              <a:t>Power</a:t>
            </a:r>
            <a:r>
              <a:rPr lang="en-IE" dirty="0">
                <a:latin typeface="Baskerville Old Face" panose="02020602080505020303" pitchFamily="18" charset="77"/>
              </a:rPr>
              <a:t>:  Use existing categorization, distinguishing committees as more or less powerful based on influence on EU law making process.</a:t>
            </a:r>
          </a:p>
          <a:p>
            <a:pPr lvl="1" algn="just"/>
            <a:r>
              <a:rPr lang="en-IE" u="sng" dirty="0">
                <a:latin typeface="Baskerville Old Face" panose="02020602080505020303" pitchFamily="18" charset="77"/>
              </a:rPr>
              <a:t>Popularity</a:t>
            </a:r>
            <a:r>
              <a:rPr lang="en-IE" dirty="0">
                <a:latin typeface="Baskerville Old Face" panose="02020602080505020303" pitchFamily="18" charset="77"/>
              </a:rPr>
              <a:t>: Based on ranking in which MEPs asked to name their most preferred committee (authors use percentage of mentions/committee + ordinal ranks in their models).</a:t>
            </a:r>
          </a:p>
        </p:txBody>
      </p:sp>
    </p:spTree>
    <p:extLst>
      <p:ext uri="{BB962C8B-B14F-4D97-AF65-F5344CB8AC3E}">
        <p14:creationId xmlns:p14="http://schemas.microsoft.com/office/powerpoint/2010/main" val="3407968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41431-8BE2-BEC5-970B-F2F70072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06703-8479-645D-73B8-A0B098364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2625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latin typeface="Baskerville Old Face" panose="02020602080505020303" pitchFamily="18" charset="77"/>
              </a:rPr>
              <a:t>2 complementary strategies: </a:t>
            </a:r>
          </a:p>
          <a:p>
            <a:pPr algn="just"/>
            <a:r>
              <a:rPr lang="en-IE" sz="3200" dirty="0">
                <a:latin typeface="Baskerville Old Face" panose="02020602080505020303" pitchFamily="18" charset="77"/>
              </a:rPr>
              <a:t>inspect deviations from representativeness in a descriptive manner;</a:t>
            </a:r>
          </a:p>
          <a:p>
            <a:pPr algn="just"/>
            <a:r>
              <a:rPr lang="en-IE" sz="3200" dirty="0">
                <a:latin typeface="Baskerville Old Face" panose="02020602080505020303" pitchFamily="18" charset="77"/>
              </a:rPr>
              <a:t>estimate the relationships between committee popularity, power and representativeness with OLS regressions; </a:t>
            </a:r>
          </a:p>
          <a:p>
            <a:pPr algn="just"/>
            <a:r>
              <a:rPr lang="en-IE" sz="3200" dirty="0">
                <a:latin typeface="Baskerville Old Face" panose="02020602080505020303" pitchFamily="18" charset="77"/>
              </a:rPr>
              <a:t>assess the influence of individual committees to test for outliers (not shown).</a:t>
            </a:r>
          </a:p>
          <a:p>
            <a:pPr algn="just"/>
            <a:endParaRPr lang="en-IE" sz="3200" dirty="0">
              <a:latin typeface="Baskerville Old Face" panose="02020602080505020303" pitchFamily="18" charset="77"/>
            </a:endParaRPr>
          </a:p>
          <a:p>
            <a:pPr algn="just"/>
            <a:endParaRPr lang="en-IE" sz="3200" dirty="0">
              <a:latin typeface="Baskerville Old Face" panose="02020602080505020303" pitchFamily="18" charset="77"/>
            </a:endParaRPr>
          </a:p>
          <a:p>
            <a:pPr algn="just"/>
            <a:endParaRPr lang="en-US" sz="3200" dirty="0">
              <a:latin typeface="Baskerville Old Face" panose="020206020805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77634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A61C-2E5E-3FC4-5F97-6629435F6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307" y="51427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Baskerville Old Face" panose="02020602080505020303" pitchFamily="18" charset="77"/>
              </a:rPr>
              <a:t>Replication of Analysis (1/3) </a:t>
            </a:r>
          </a:p>
        </p:txBody>
      </p:sp>
      <p:pic>
        <p:nvPicPr>
          <p:cNvPr id="5" name="Content Placeholder 4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5CE3C19B-8976-E80A-2541-A4CC193C0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8809"/>
          <a:stretch>
            <a:fillRect/>
          </a:stretch>
        </p:blipFill>
        <p:spPr>
          <a:xfrm>
            <a:off x="6589279" y="236972"/>
            <a:ext cx="4874172" cy="3205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16ECF1-9B55-4197-405F-04BD1C83580B}"/>
              </a:ext>
            </a:extLst>
          </p:cNvPr>
          <p:cNvSpPr txBox="1"/>
          <p:nvPr/>
        </p:nvSpPr>
        <p:spPr>
          <a:xfrm>
            <a:off x="524307" y="1839836"/>
            <a:ext cx="6269215" cy="465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E" sz="2400" dirty="0">
                <a:latin typeface="Baskerville Old Face" panose="02020602080505020303" pitchFamily="18" charset="77"/>
              </a:rPr>
              <a:t>Compare distribution of preferences on the pro/anti EU dimension in two committees (Foreign Affairs (AFET) and Fisheries (PECH)) with plenary-level distributions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E" sz="2400" dirty="0">
                <a:latin typeface="Baskerville Old Face" panose="02020602080505020303" pitchFamily="18" charset="77"/>
              </a:rPr>
              <a:t>Light grey = committee distribution; </a:t>
            </a:r>
            <a:br>
              <a:rPr lang="en-IE" sz="2400" dirty="0">
                <a:latin typeface="Baskerville Old Face" panose="02020602080505020303" pitchFamily="18" charset="77"/>
              </a:rPr>
            </a:br>
            <a:r>
              <a:rPr lang="en-IE" sz="2400" dirty="0">
                <a:latin typeface="Baskerville Old Face" panose="02020602080505020303" pitchFamily="18" charset="77"/>
              </a:rPr>
              <a:t>Dark grey = plenary distribution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E" sz="2400" dirty="0">
                <a:latin typeface="Baskerville Old Face" panose="02020602080505020303" pitchFamily="18" charset="77"/>
              </a:rPr>
              <a:t>Shows: pro-EU bias of the EP plenary, not reflected in all committees to the same extent.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E" sz="2400" dirty="0">
                <a:latin typeface="Baskerville Old Face" panose="02020602080505020303" pitchFamily="18" charset="77"/>
              </a:rPr>
              <a:t>Overlap in AFET ca. 86%, overlap in PECH is only 70%: MEPs from less Europhile national parties are overrepresented in PECH. 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IE" sz="2800" dirty="0"/>
          </a:p>
        </p:txBody>
      </p:sp>
      <p:pic>
        <p:nvPicPr>
          <p:cNvPr id="3" name="Content Placeholder 4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8346097A-1CFA-BA75-12E4-41A27551A5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140"/>
          <a:stretch>
            <a:fillRect/>
          </a:stretch>
        </p:blipFill>
        <p:spPr>
          <a:xfrm>
            <a:off x="6683872" y="3532082"/>
            <a:ext cx="4779579" cy="332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1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D4B4B-89F3-491B-6B4D-CE81F3E85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607" y="540534"/>
            <a:ext cx="5764481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Baskerville Old Face" panose="02020602080505020303" pitchFamily="18" charset="77"/>
              </a:rPr>
              <a:t>Representativeness of powerful committees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6EA7A-18BC-4AF1-E379-85089268D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47" y="1966128"/>
            <a:ext cx="6112074" cy="4513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600" dirty="0">
                <a:latin typeface="Baskerville Old Face" panose="02020602080505020303" pitchFamily="18" charset="77"/>
              </a:rPr>
              <a:t>High scores/overlap with the plenary-level distribution = representativeness of the committees. </a:t>
            </a:r>
          </a:p>
          <a:p>
            <a:pPr marL="0" indent="0">
              <a:buNone/>
            </a:pPr>
            <a:r>
              <a:rPr lang="en-IE" sz="2600" b="1" u="sng" dirty="0">
                <a:latin typeface="Baskerville Old Face" panose="02020602080505020303" pitchFamily="18" charset="77"/>
              </a:rPr>
              <a:t>Left-right dimension</a:t>
            </a:r>
            <a:r>
              <a:rPr lang="en-IE" sz="2600" dirty="0">
                <a:latin typeface="Baskerville Old Face" panose="02020602080505020303" pitchFamily="18" charset="77"/>
              </a:rPr>
              <a:t>: “non-powerful” committees occupy ca. the same range as the more powerful committees </a:t>
            </a:r>
          </a:p>
          <a:p>
            <a:pPr marL="0" indent="0">
              <a:buNone/>
            </a:pPr>
            <a:r>
              <a:rPr lang="en-IE" sz="2600" b="1" u="sng" dirty="0">
                <a:latin typeface="Baskerville Old Face" panose="02020602080505020303" pitchFamily="18" charset="77"/>
              </a:rPr>
              <a:t>Pro/anti EU dimension</a:t>
            </a:r>
            <a:r>
              <a:rPr lang="en-IE" sz="2600" dirty="0">
                <a:latin typeface="Baskerville Old Face" panose="02020602080505020303" pitchFamily="18" charset="77"/>
              </a:rPr>
              <a:t>: powerful committees tend to be more representative than less powerful committees, with the exceptions of Legal Affairs (JURI, powerful) and Foreign Affairs (AFET, not powerful).</a:t>
            </a:r>
          </a:p>
          <a:p>
            <a:pPr algn="just"/>
            <a:endParaRPr lang="en-US" sz="800" dirty="0"/>
          </a:p>
        </p:txBody>
      </p:sp>
      <p:pic>
        <p:nvPicPr>
          <p:cNvPr id="5" name="Picture 4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F0E97868-6850-A5A4-E0B0-0740C1908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103" y="540534"/>
            <a:ext cx="4881749" cy="610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67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F2B86-B5EF-3C64-5F3E-FAF37A4D9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26" y="495754"/>
            <a:ext cx="5801078" cy="1325563"/>
          </a:xfrm>
        </p:spPr>
        <p:txBody>
          <a:bodyPr/>
          <a:lstStyle/>
          <a:p>
            <a:r>
              <a:rPr lang="en-US" sz="4000" dirty="0">
                <a:latin typeface="Baskerville Old Face" panose="02020602080505020303" pitchFamily="18" charset="77"/>
              </a:rPr>
              <a:t>Representativeness of popular committees (3/3)</a:t>
            </a:r>
          </a:p>
        </p:txBody>
      </p:sp>
      <p:pic>
        <p:nvPicPr>
          <p:cNvPr id="5" name="Content Placeholder 4" descr="A graph with numbers and letters&#10;&#10;AI-generated content may be incorrect.">
            <a:extLst>
              <a:ext uri="{FF2B5EF4-FFF2-40B4-BE49-F238E27FC236}">
                <a16:creationId xmlns:a16="http://schemas.microsoft.com/office/drawing/2014/main" id="{0616C817-C94D-3B73-1DD6-ACF6C8870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3004" y="365125"/>
            <a:ext cx="5107070" cy="6385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4E8A6B-B7A1-E77D-A0A2-B5C7163F8124}"/>
              </a:ext>
            </a:extLst>
          </p:cNvPr>
          <p:cNvSpPr txBox="1"/>
          <p:nvPr/>
        </p:nvSpPr>
        <p:spPr>
          <a:xfrm>
            <a:off x="641926" y="2170789"/>
            <a:ext cx="5107070" cy="3590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600" dirty="0">
                <a:latin typeface="Baskerville Old Face" panose="02020602080505020303" pitchFamily="18" charset="77"/>
              </a:rPr>
              <a:t>Key finding: increased representativeness of more popular committees can be observed.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600" b="1" u="sng" dirty="0">
                <a:latin typeface="Baskerville Old Face" panose="02020602080505020303" pitchFamily="18" charset="77"/>
              </a:rPr>
              <a:t>Left-right dimension: </a:t>
            </a:r>
            <a:r>
              <a:rPr lang="en-US" sz="2600" dirty="0">
                <a:latin typeface="Baskerville Old Face" panose="02020602080505020303" pitchFamily="18" charset="77"/>
              </a:rPr>
              <a:t>popular and less popular occupy same range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600" b="1" u="sng" dirty="0">
                <a:latin typeface="Baskerville Old Face" panose="02020602080505020303" pitchFamily="18" charset="77"/>
              </a:rPr>
              <a:t>Pro/anti EU: </a:t>
            </a:r>
            <a:r>
              <a:rPr lang="en-US" sz="2600" dirty="0">
                <a:latin typeface="Baskerville Old Face" panose="02020602080505020303" pitchFamily="18" charset="77"/>
              </a:rPr>
              <a:t>Less popular seem to be less representative (Legal Affairs (JURI), Petitions (PETI), and Budgetary Control (CONT)).</a:t>
            </a:r>
          </a:p>
        </p:txBody>
      </p:sp>
    </p:spTree>
    <p:extLst>
      <p:ext uri="{BB962C8B-B14F-4D97-AF65-F5344CB8AC3E}">
        <p14:creationId xmlns:p14="http://schemas.microsoft.com/office/powerpoint/2010/main" val="3838382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1,403,800+ Europe Flag Stock Photos, Pictures &amp; Royalty-Free Images -  iStock | Europe flag icon, Europe flag vector, Europe flag bunting">
            <a:extLst>
              <a:ext uri="{FF2B5EF4-FFF2-40B4-BE49-F238E27FC236}">
                <a16:creationId xmlns:a16="http://schemas.microsoft.com/office/drawing/2014/main" id="{90F54AD3-0F71-42A5-E6DF-7C53A4A65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1435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0C31E-68DC-7C7D-FD24-B31C465B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Baskerville Old Face" panose="02020602080505020303" pitchFamily="18" charset="77"/>
                <a:ea typeface="+mn-ea"/>
                <a:cs typeface="+mn-cs"/>
              </a:rPr>
              <a:t>Replication of Regression Models</a:t>
            </a:r>
            <a:endParaRPr lang="en-US" dirty="0">
              <a:latin typeface="Baskerville Old Face" panose="02020602080505020303" pitchFamily="18" charset="77"/>
              <a:ea typeface="+mn-ea"/>
              <a:cs typeface="+mn-cs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9D0328D-5161-CEEC-B5D6-91B6D20CF0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381663"/>
              </p:ext>
            </p:extLst>
          </p:nvPr>
        </p:nvGraphicFramePr>
        <p:xfrm>
          <a:off x="476907" y="1150883"/>
          <a:ext cx="11238186" cy="50733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39320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540A-7A49-BDEC-3949-23D7B3A60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Replication of Regression Models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69918F-1C80-322D-62FF-738CD3091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39" y="1334075"/>
            <a:ext cx="11774921" cy="418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36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9297C-A016-6E22-7E87-00CB4BF2E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981" y="361950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Baskerville Old Face" panose="02020602080505020303" pitchFamily="18" charset="77"/>
              </a:rPr>
              <a:t>Result findings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F1DCC-D5A8-5F8A-01F8-295A06200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81" y="1675314"/>
            <a:ext cx="6232619" cy="51826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sz="2400" u="sng" dirty="0">
                <a:latin typeface="Baskerville Old Face" panose="02020602080505020303" pitchFamily="18" charset="77"/>
              </a:rPr>
              <a:t>Hypothesis</a:t>
            </a:r>
            <a:r>
              <a:rPr lang="en-IE" sz="2400" dirty="0">
                <a:latin typeface="Baskerville Old Face" panose="02020602080505020303" pitchFamily="18" charset="77"/>
              </a:rPr>
              <a:t>: </a:t>
            </a:r>
            <a:r>
              <a:rPr lang="en-IE" sz="2400" b="1" i="1" dirty="0">
                <a:latin typeface="Baskerville Old Face" panose="02020602080505020303" pitchFamily="18" charset="77"/>
              </a:rPr>
              <a:t>More popular and more powerful committees are more representative of the plenary on key dimensions of political conflict than less popular and less powerful committees</a:t>
            </a:r>
            <a:r>
              <a:rPr lang="en-IE" sz="2400" dirty="0">
                <a:latin typeface="Baskerville Old Face" panose="02020602080505020303" pitchFamily="18" charset="77"/>
              </a:rPr>
              <a:t>.</a:t>
            </a:r>
            <a:endParaRPr lang="en-US" sz="2400" dirty="0">
              <a:latin typeface="Baskerville Old Face" panose="02020602080505020303" pitchFamily="18" charset="77"/>
            </a:endParaRP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77"/>
              </a:rPr>
              <a:t>Neither committee popularity nor power helps explain deviations in committee representativeness on the </a:t>
            </a:r>
            <a:r>
              <a:rPr lang="en-US" sz="2400" b="1" dirty="0">
                <a:latin typeface="Baskerville Old Face" panose="02020602080505020303" pitchFamily="18" charset="77"/>
              </a:rPr>
              <a:t>left/right dimension </a:t>
            </a:r>
            <a:r>
              <a:rPr lang="en-US" sz="2400" dirty="0">
                <a:latin typeface="Baskerville Old Face" panose="02020602080505020303" pitchFamily="18" charset="77"/>
              </a:rPr>
              <a:t>(Models I–III). </a:t>
            </a:r>
          </a:p>
          <a:p>
            <a:pPr marL="0" indent="0">
              <a:buNone/>
            </a:pPr>
            <a:r>
              <a:rPr lang="en-US" sz="2400" b="1" dirty="0">
                <a:latin typeface="Baskerville Old Face" panose="02020602080505020303" pitchFamily="18" charset="77"/>
              </a:rPr>
              <a:t>Positive relationship between committee popularity </a:t>
            </a:r>
            <a:r>
              <a:rPr lang="en-US" sz="2400" dirty="0">
                <a:latin typeface="Baskerville Old Face" panose="02020602080505020303" pitchFamily="18" charset="77"/>
              </a:rPr>
              <a:t>and committee representativeness on the </a:t>
            </a:r>
            <a:r>
              <a:rPr lang="en-US" sz="2400" b="1" dirty="0">
                <a:latin typeface="Baskerville Old Face" panose="02020602080505020303" pitchFamily="18" charset="77"/>
              </a:rPr>
              <a:t>pro/anti-EU dimension </a:t>
            </a:r>
            <a:r>
              <a:rPr lang="en-US" sz="2400" dirty="0">
                <a:latin typeface="Baskerville Old Face" panose="02020602080505020303" pitchFamily="18" charset="77"/>
              </a:rPr>
              <a:t>(Model IV): </a:t>
            </a:r>
          </a:p>
          <a:p>
            <a:r>
              <a:rPr lang="en-US" sz="2400" dirty="0">
                <a:latin typeface="Baskerville Old Face" panose="02020602080505020303" pitchFamily="18" charset="77"/>
              </a:rPr>
              <a:t>Every percentage point increase in popularity is associated with an increase in overlap on the pro/anti-EU dimension of .4 points. </a:t>
            </a:r>
          </a:p>
          <a:p>
            <a:r>
              <a:rPr lang="en-US" sz="2400" dirty="0">
                <a:latin typeface="Baskerville Old Face" panose="02020602080505020303" pitchFamily="18" charset="77"/>
              </a:rPr>
              <a:t>Also holds if use an ordinal ranking of committee popularity resulting from Whitaker’s survey (Model V)</a:t>
            </a:r>
          </a:p>
        </p:txBody>
      </p:sp>
      <p:pic>
        <p:nvPicPr>
          <p:cNvPr id="2050" name="Picture 2" descr="Entrance of session week 24">
            <a:extLst>
              <a:ext uri="{FF2B5EF4-FFF2-40B4-BE49-F238E27FC236}">
                <a16:creationId xmlns:a16="http://schemas.microsoft.com/office/drawing/2014/main" id="{4131FFF3-E4AF-BE79-5D48-067C219C2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87" r="12702"/>
          <a:stretch>
            <a:fillRect/>
          </a:stretch>
        </p:blipFill>
        <p:spPr bwMode="auto">
          <a:xfrm>
            <a:off x="7199440" y="10"/>
            <a:ext cx="4992560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647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12880C-7642-3C51-053A-02F7B8FE23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7" r="3154"/>
          <a:stretch>
            <a:fillRect/>
          </a:stretch>
        </p:blipFill>
        <p:spPr>
          <a:xfrm>
            <a:off x="466401" y="1127051"/>
            <a:ext cx="6833880" cy="46038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83299-6558-6A73-2235-C15140EF1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34" y="91642"/>
            <a:ext cx="6421954" cy="1325563"/>
          </a:xfrm>
        </p:spPr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Extension: Interaction term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13071E-335F-D025-60F4-21A5AECEC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64" y="5953135"/>
            <a:ext cx="6421954" cy="6491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975BA4-600F-860E-608B-3D11484F0DC8}"/>
              </a:ext>
            </a:extLst>
          </p:cNvPr>
          <p:cNvSpPr txBox="1"/>
          <p:nvPr/>
        </p:nvSpPr>
        <p:spPr>
          <a:xfrm>
            <a:off x="7793271" y="1659284"/>
            <a:ext cx="349770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>
                <a:solidFill>
                  <a:srgbClr val="000000"/>
                </a:solidFill>
                <a:latin typeface="Baskerville Old Face" panose="02020602080505020303" pitchFamily="18" charset="77"/>
              </a:rPr>
              <a:t>&gt;&gt; Test whether the effect of committee popularity on representativeness (pro/anti EU dimension) depends on whether a committee is powerful.</a:t>
            </a:r>
            <a:endParaRPr lang="en-IE" sz="2800" dirty="0">
              <a:solidFill>
                <a:srgbClr val="000000"/>
              </a:solidFill>
              <a:effectLst/>
              <a:latin typeface="Baskerville Old Face" panose="020206020805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51178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6B95E3-35A6-7959-C744-5069EFE1DF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45" t="9780" r="9822" b="683"/>
          <a:stretch>
            <a:fillRect/>
          </a:stretch>
        </p:blipFill>
        <p:spPr>
          <a:xfrm>
            <a:off x="375995" y="1492133"/>
            <a:ext cx="5464233" cy="38737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02AD30-1DFB-21B0-1BB6-A206F8D95091}"/>
              </a:ext>
            </a:extLst>
          </p:cNvPr>
          <p:cNvSpPr txBox="1"/>
          <p:nvPr/>
        </p:nvSpPr>
        <p:spPr>
          <a:xfrm>
            <a:off x="5979622" y="797510"/>
            <a:ext cx="583638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b="1" dirty="0">
                <a:solidFill>
                  <a:srgbClr val="000000"/>
                </a:solidFill>
                <a:effectLst/>
                <a:latin typeface="Baskerville Old Face" panose="02020602080505020303" pitchFamily="18" charset="77"/>
              </a:rPr>
              <a:t>Popularity</a:t>
            </a:r>
            <a:r>
              <a:rPr lang="en-IE" sz="2400" b="1" dirty="0">
                <a:solidFill>
                  <a:srgbClr val="000000"/>
                </a:solidFill>
                <a:latin typeface="Baskerville Old Face" panose="02020602080505020303" pitchFamily="18" charset="77"/>
              </a:rPr>
              <a:t>: </a:t>
            </a:r>
            <a:r>
              <a:rPr lang="en-IE" sz="2400" dirty="0">
                <a:solidFill>
                  <a:srgbClr val="000000"/>
                </a:solidFill>
                <a:effectLst/>
                <a:latin typeface="Baskerville Old Face" panose="02020602080505020303" pitchFamily="18" charset="77"/>
              </a:rPr>
              <a:t>more popular committees have stronger overlap, are more representative.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b="1" dirty="0">
                <a:solidFill>
                  <a:srgbClr val="000000"/>
                </a:solidFill>
                <a:latin typeface="Baskerville Old Face" panose="02020602080505020303" pitchFamily="18" charset="77"/>
              </a:rPr>
              <a:t>Power</a:t>
            </a:r>
            <a:r>
              <a:rPr lang="en-IE" sz="2400" dirty="0">
                <a:solidFill>
                  <a:srgbClr val="000000"/>
                </a:solidFill>
                <a:latin typeface="Baskerville Old Face" panose="02020602080505020303" pitchFamily="18" charset="77"/>
              </a:rPr>
              <a:t>: more powerful committees may be expected to have stronger overlap, but not systematically more representative.</a:t>
            </a:r>
            <a:endParaRPr lang="en-IE" sz="2400" dirty="0">
              <a:solidFill>
                <a:srgbClr val="000000"/>
              </a:solidFill>
              <a:effectLst/>
              <a:latin typeface="Baskerville Old Face" panose="02020602080505020303" pitchFamily="18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b="1" dirty="0">
                <a:solidFill>
                  <a:srgbClr val="000000"/>
                </a:solidFill>
                <a:latin typeface="Baskerville Old Face" panose="02020602080505020303" pitchFamily="18" charset="77"/>
              </a:rPr>
              <a:t>Interaction</a:t>
            </a:r>
            <a:r>
              <a:rPr lang="en-IE" sz="2400" dirty="0">
                <a:solidFill>
                  <a:srgbClr val="000000"/>
                </a:solidFill>
                <a:latin typeface="Baskerville Old Face" panose="02020602080505020303" pitchFamily="18" charset="77"/>
              </a:rPr>
              <a:t>: positive effect of popularity may be weaker for powerful committees (decrease in overlap), but not statistically significant.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>
                <a:solidFill>
                  <a:srgbClr val="000000"/>
                </a:solidFill>
                <a:latin typeface="Baskerville Old Face" panose="02020602080505020303" pitchFamily="18" charset="77"/>
              </a:rPr>
              <a:t>KEY FINDING: </a:t>
            </a:r>
            <a:r>
              <a:rPr lang="en-IE" sz="2400" b="1" dirty="0">
                <a:solidFill>
                  <a:srgbClr val="000000"/>
                </a:solidFill>
                <a:latin typeface="Baskerville Old Face" panose="02020602080505020303" pitchFamily="18" charset="77"/>
              </a:rPr>
              <a:t>Committee popularity is an important determinant </a:t>
            </a:r>
            <a:r>
              <a:rPr lang="en-IE" sz="2400" dirty="0">
                <a:solidFill>
                  <a:srgbClr val="000000"/>
                </a:solidFill>
                <a:latin typeface="Baskerville Old Face" panose="02020602080505020303" pitchFamily="18" charset="77"/>
              </a:rPr>
              <a:t>of representativeness on the pro/anti EU dimension, while </a:t>
            </a:r>
            <a:r>
              <a:rPr lang="en-IE" sz="2400" b="1" dirty="0">
                <a:solidFill>
                  <a:srgbClr val="000000"/>
                </a:solidFill>
                <a:latin typeface="Baskerville Old Face" panose="02020602080505020303" pitchFamily="18" charset="77"/>
              </a:rPr>
              <a:t>committee power and its interaction with popularity play a limited role</a:t>
            </a:r>
            <a:r>
              <a:rPr lang="en-IE" sz="2400" dirty="0">
                <a:solidFill>
                  <a:srgbClr val="000000"/>
                </a:solidFill>
                <a:latin typeface="Baskerville Old Face" panose="02020602080505020303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343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1,403,800+ Europe Flag Stock Photos, Pictures &amp; Royalty-Free Images -  iStock | Europe flag icon, Europe flag vector, Europe flag bunting">
            <a:extLst>
              <a:ext uri="{FF2B5EF4-FFF2-40B4-BE49-F238E27FC236}">
                <a16:creationId xmlns:a16="http://schemas.microsoft.com/office/drawing/2014/main" id="{FA78A336-167B-E7F6-C3AB-8A18FE513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0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840859-8497-1144-B2ED-2BE75FDB3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817" y="2674566"/>
            <a:ext cx="3292366" cy="1927527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Baskerville Old Face" panose="02020602080505020303" pitchFamily="18" charset="77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88101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1705</TotalTime>
  <Words>941</Words>
  <Application>Microsoft Macintosh PowerPoint</Application>
  <PresentationFormat>Widescreen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Baskerville Old Face</vt:lpstr>
      <vt:lpstr>Office Theme</vt:lpstr>
      <vt:lpstr>Hurka and Kaplaner (2020): Are popular and powerful committees more representative? Evidence from the 9th European Parliament </vt:lpstr>
      <vt:lpstr>Introduction</vt:lpstr>
      <vt:lpstr>Data and Approach</vt:lpstr>
      <vt:lpstr>Analysis</vt:lpstr>
      <vt:lpstr>Methods</vt:lpstr>
      <vt:lpstr>Replication of Analysis (1/3) </vt:lpstr>
      <vt:lpstr>Representativeness of powerful committees (2/3)</vt:lpstr>
      <vt:lpstr>Representativeness of popular committees (3/3)</vt:lpstr>
      <vt:lpstr>Replication of Regression Models</vt:lpstr>
      <vt:lpstr>Replication of Regression Models </vt:lpstr>
      <vt:lpstr>Result findings interpretation</vt:lpstr>
      <vt:lpstr>Extension: Interaction term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Mairi Kachur</dc:creator>
  <cp:lastModifiedBy>Mairi Kachur</cp:lastModifiedBy>
  <cp:revision>6</cp:revision>
  <dcterms:created xsi:type="dcterms:W3CDTF">2026-04-01T16:19:49Z</dcterms:created>
  <dcterms:modified xsi:type="dcterms:W3CDTF">2026-04-10T09:15:43Z</dcterms:modified>
</cp:coreProperties>
</file>