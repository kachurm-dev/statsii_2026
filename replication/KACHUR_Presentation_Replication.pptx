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94"/>
  </p:normalViewPr>
  <p:slideViewPr>
    <p:cSldViewPr snapToGrid="0">
      <p:cViewPr varScale="1">
        <p:scale>
          <a:sx n="107" d="100"/>
          <a:sy n="107" d="100"/>
        </p:scale>
        <p:origin x="760" y="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03417-12F6-AC23-540D-E8751E69D23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36C961D-ED2E-8F22-E81A-E65E7F38B4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E48E145-38C1-FB12-B772-70322129A582}"/>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33DB75D9-F503-591E-F338-CAAC2FF4FA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56599C-3F1D-F965-2D9C-38A9EBC1D279}"/>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62536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C8368-D24C-09D9-76E1-EFE9A2960F6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81618A0-9A89-63E1-4A0F-885CB104893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491A749-557B-F539-9E47-155B33694AAE}"/>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D1DA79A1-102E-5504-382A-3EDB51880C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F8C64-3485-6CFE-63A9-D000F788EABB}"/>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260950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1379A-38EA-BB88-0E96-7E7C791F151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5F0ADBB-A012-1EF0-B9B1-9BFCD209B4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4F8A884-A4EF-CE8C-3A86-0FEDEF7EBA5D}"/>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2E7244DD-EEA0-B87A-709F-0F41EC4B61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77189E-9871-7171-7347-754E0369054E}"/>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10201335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A3E65-0AF5-6994-DEF0-2428E620F52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A3071C-AF0C-C9A3-7428-1E45DAAC4D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8FE732C0-A30E-52D1-BFD2-64776E7B4E7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116726A-8DD2-EDC8-21F6-CD7CE2D315B6}"/>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6" name="Footer Placeholder 5">
            <a:extLst>
              <a:ext uri="{FF2B5EF4-FFF2-40B4-BE49-F238E27FC236}">
                <a16:creationId xmlns:a16="http://schemas.microsoft.com/office/drawing/2014/main" id="{647B57E3-EDC0-201E-D371-87D9101C7B1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5DB54-C0D9-2AED-11E9-8A570A5FBE5E}"/>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20755038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A7BEC-59B7-3C3B-9D67-410DAF7A99C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E9AFDB7-0A43-1D82-5ADF-F5AD8F9662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E0D2A96-BE34-65B6-8BF9-E72A17F26CF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95238A9-59CF-0808-123E-67398874E9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E079333-302C-0F3C-C04C-FFD52397E36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FC223F8-431A-D1F6-DC05-7E6E63BC1749}"/>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8" name="Footer Placeholder 7">
            <a:extLst>
              <a:ext uri="{FF2B5EF4-FFF2-40B4-BE49-F238E27FC236}">
                <a16:creationId xmlns:a16="http://schemas.microsoft.com/office/drawing/2014/main" id="{829474DD-4A3E-D36C-2D9A-D6918CED7D1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8DFF975-CACB-EB80-556E-6C0ACB5F8B8A}"/>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426779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92FD8-0607-4C5F-1016-869D231C680D}"/>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7177B0E-9132-475C-8E40-D10C8B48EF7C}"/>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4" name="Footer Placeholder 3">
            <a:extLst>
              <a:ext uri="{FF2B5EF4-FFF2-40B4-BE49-F238E27FC236}">
                <a16:creationId xmlns:a16="http://schemas.microsoft.com/office/drawing/2014/main" id="{F276AC80-C692-CC7F-0184-FCC3B85755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E02A876-18BA-B5B8-580D-934AA3CDBFFE}"/>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19288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7CB2C7-F20C-AE54-C9F9-F1118B37E19D}"/>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3" name="Footer Placeholder 2">
            <a:extLst>
              <a:ext uri="{FF2B5EF4-FFF2-40B4-BE49-F238E27FC236}">
                <a16:creationId xmlns:a16="http://schemas.microsoft.com/office/drawing/2014/main" id="{6F76531A-E87B-B1BE-C9B5-AF658CF4C72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6AB6E62-D6A5-8BDC-9818-BE6B36D4E9E5}"/>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167585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63AEB-9F01-455C-FD66-6393531FDCE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48CFB5B-EF48-FEFC-9D43-2437CB54F1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9252283-982D-7E59-BE14-254D68AA51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2A9AFA1-A354-2030-EB23-EFA113F9EBDB}"/>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6" name="Footer Placeholder 5">
            <a:extLst>
              <a:ext uri="{FF2B5EF4-FFF2-40B4-BE49-F238E27FC236}">
                <a16:creationId xmlns:a16="http://schemas.microsoft.com/office/drawing/2014/main" id="{38F78D1B-79A7-5B71-2481-ACBC8D88C7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E50BB7C-DD9F-A205-7C33-AA5BBAEFEFBF}"/>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216730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04DC6-C4E1-57D1-8EF0-676298C78B8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1890626C-CC54-4724-B1BD-8D1ECF9019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4A3E33-D4F1-3A07-4F29-74A5B6829F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1BE74AD-42F4-F467-02E4-BBBF4D321EB5}"/>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6" name="Footer Placeholder 5">
            <a:extLst>
              <a:ext uri="{FF2B5EF4-FFF2-40B4-BE49-F238E27FC236}">
                <a16:creationId xmlns:a16="http://schemas.microsoft.com/office/drawing/2014/main" id="{45414B0A-20B1-BF3E-6C69-B01DE734FC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8A853A-FEAF-B5E9-8CC5-C988A6B7BF20}"/>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1602535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5524B-9DCE-416A-BBDA-2DAC70758D0B}"/>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3508F05-DE8B-B9BF-08D6-2D61881FE81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0DAAAE1-A47B-3EBA-3AB2-29E267FD64F7}"/>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B775C69A-30F4-DB1B-EA77-CEC8C9F805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1C049F-373C-682F-8859-BEAB2048EC6B}"/>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36807698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F51B4D-223C-933B-4F00-C2A62F1D3D5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204E59D-FA77-940A-480A-22AE699B2BD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873FE42-79FF-6EF8-0442-E1C1EFCB9D27}"/>
              </a:ext>
            </a:extLst>
          </p:cNvPr>
          <p:cNvSpPr>
            <a:spLocks noGrp="1"/>
          </p:cNvSpPr>
          <p:nvPr>
            <p:ph type="dt" sz="half" idx="10"/>
          </p:nvPr>
        </p:nvSpPr>
        <p:spPr/>
        <p:txBody>
          <a:body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54C44EEB-4468-F9A6-03E6-010A775D49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88413E-2CE4-A49D-F47A-5727B6B88473}"/>
              </a:ext>
            </a:extLst>
          </p:cNvPr>
          <p:cNvSpPr>
            <a:spLocks noGrp="1"/>
          </p:cNvSpPr>
          <p:nvPr>
            <p:ph type="sldNum" sz="quarter" idx="12"/>
          </p:nvPr>
        </p:nvSpPr>
        <p:spPr/>
        <p:txBody>
          <a:bodyPr/>
          <a:lstStyle/>
          <a:p>
            <a:fld id="{94803375-4E25-B747-91A7-501FF8FFE41F}" type="slidenum">
              <a:rPr lang="en-US" smtClean="0"/>
              <a:t>‹#›</a:t>
            </a:fld>
            <a:endParaRPr lang="en-US"/>
          </a:p>
        </p:txBody>
      </p:sp>
    </p:spTree>
    <p:extLst>
      <p:ext uri="{BB962C8B-B14F-4D97-AF65-F5344CB8AC3E}">
        <p14:creationId xmlns:p14="http://schemas.microsoft.com/office/powerpoint/2010/main" val="6314198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E139D0-159A-7642-57F9-E6AAD748C9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43D10B1-5000-4973-9E91-2167F4B83F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32ED599-E7DA-1D35-AFAA-0275CE8981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DB94C8-CA58-2C4E-A738-2265FD1AB843}" type="datetimeFigureOut">
              <a:rPr lang="en-US" smtClean="0"/>
              <a:t>4/1/26</a:t>
            </a:fld>
            <a:endParaRPr lang="en-US"/>
          </a:p>
        </p:txBody>
      </p:sp>
      <p:sp>
        <p:nvSpPr>
          <p:cNvPr id="5" name="Footer Placeholder 4">
            <a:extLst>
              <a:ext uri="{FF2B5EF4-FFF2-40B4-BE49-F238E27FC236}">
                <a16:creationId xmlns:a16="http://schemas.microsoft.com/office/drawing/2014/main" id="{AAB1535A-5DA8-539D-2C55-06A7F482CDE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64E9CAD-C236-9523-C38E-6284D8EB6D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803375-4E25-B747-91A7-501FF8FFE41F}" type="slidenum">
              <a:rPr lang="en-US" smtClean="0"/>
              <a:t>‹#›</a:t>
            </a:fld>
            <a:endParaRPr lang="en-US"/>
          </a:p>
        </p:txBody>
      </p:sp>
    </p:spTree>
    <p:extLst>
      <p:ext uri="{BB962C8B-B14F-4D97-AF65-F5344CB8AC3E}">
        <p14:creationId xmlns:p14="http://schemas.microsoft.com/office/powerpoint/2010/main" val="25158476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83456-46F8-6FB8-38C2-7C8B2440C5EB}"/>
              </a:ext>
            </a:extLst>
          </p:cNvPr>
          <p:cNvSpPr>
            <a:spLocks noGrp="1"/>
          </p:cNvSpPr>
          <p:nvPr>
            <p:ph type="ctrTitle"/>
          </p:nvPr>
        </p:nvSpPr>
        <p:spPr>
          <a:xfrm>
            <a:off x="1524000" y="1288618"/>
            <a:ext cx="9144000" cy="2387600"/>
          </a:xfrm>
        </p:spPr>
        <p:txBody>
          <a:bodyPr>
            <a:noAutofit/>
          </a:bodyPr>
          <a:lstStyle/>
          <a:p>
            <a:r>
              <a:rPr lang="en-US" sz="4400" dirty="0"/>
              <a:t>Hurka and </a:t>
            </a:r>
            <a:r>
              <a:rPr lang="en-US" sz="4400" dirty="0" err="1"/>
              <a:t>Kaplaner</a:t>
            </a:r>
            <a:r>
              <a:rPr lang="en-US" sz="4400" dirty="0"/>
              <a:t> (2020): </a:t>
            </a:r>
            <a:r>
              <a:rPr lang="en-IE" sz="4400" dirty="0"/>
              <a:t>Are popular and powerful committees</a:t>
            </a:r>
            <a:br>
              <a:rPr lang="en-IE" sz="4400" dirty="0"/>
            </a:br>
            <a:r>
              <a:rPr lang="en-IE" sz="4400" dirty="0"/>
              <a:t>more representative? Evidence from</a:t>
            </a:r>
            <a:br>
              <a:rPr lang="en-IE" sz="4400" dirty="0"/>
            </a:br>
            <a:r>
              <a:rPr lang="en-IE" sz="4400" dirty="0"/>
              <a:t>the 9th European Parliament </a:t>
            </a:r>
            <a:endParaRPr lang="en-US" sz="4400" i="1" dirty="0"/>
          </a:p>
        </p:txBody>
      </p:sp>
      <p:sp>
        <p:nvSpPr>
          <p:cNvPr id="3" name="Subtitle 2">
            <a:extLst>
              <a:ext uri="{FF2B5EF4-FFF2-40B4-BE49-F238E27FC236}">
                <a16:creationId xmlns:a16="http://schemas.microsoft.com/office/drawing/2014/main" id="{893293B7-9B6B-539D-3540-DE24995D62F2}"/>
              </a:ext>
            </a:extLst>
          </p:cNvPr>
          <p:cNvSpPr>
            <a:spLocks noGrp="1"/>
          </p:cNvSpPr>
          <p:nvPr>
            <p:ph type="subTitle" idx="1"/>
          </p:nvPr>
        </p:nvSpPr>
        <p:spPr>
          <a:xfrm>
            <a:off x="1524000" y="4172053"/>
            <a:ext cx="9144000" cy="1655762"/>
          </a:xfrm>
        </p:spPr>
        <p:txBody>
          <a:bodyPr>
            <a:normAutofit lnSpcReduction="10000"/>
          </a:bodyPr>
          <a:lstStyle/>
          <a:p>
            <a:r>
              <a:rPr lang="en-US" dirty="0"/>
              <a:t>Quantitative Methods II</a:t>
            </a:r>
          </a:p>
          <a:p>
            <a:r>
              <a:rPr lang="en-US" dirty="0"/>
              <a:t>Mairi Kachur, PhD Candidate</a:t>
            </a:r>
          </a:p>
          <a:p>
            <a:r>
              <a:rPr lang="en-US" dirty="0"/>
              <a:t>Lecturer: Jeffrey Ziegler</a:t>
            </a:r>
          </a:p>
          <a:p>
            <a:r>
              <a:rPr lang="en-US" dirty="0"/>
              <a:t>10 April 2026</a:t>
            </a:r>
          </a:p>
        </p:txBody>
      </p:sp>
    </p:spTree>
    <p:extLst>
      <p:ext uri="{BB962C8B-B14F-4D97-AF65-F5344CB8AC3E}">
        <p14:creationId xmlns:p14="http://schemas.microsoft.com/office/powerpoint/2010/main" val="2264406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FC63F-7CF4-81ED-C5CE-E4CB4D071703}"/>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D4878E1A-2F94-81AC-C2A5-661717A2DAB8}"/>
              </a:ext>
            </a:extLst>
          </p:cNvPr>
          <p:cNvSpPr>
            <a:spLocks noGrp="1"/>
          </p:cNvSpPr>
          <p:nvPr>
            <p:ph idx="1"/>
          </p:nvPr>
        </p:nvSpPr>
        <p:spPr/>
        <p:txBody>
          <a:bodyPr>
            <a:normAutofit lnSpcReduction="10000"/>
          </a:bodyPr>
          <a:lstStyle/>
          <a:p>
            <a:r>
              <a:rPr lang="en-IE" dirty="0"/>
              <a:t>Authors assess the representativeness of the committees of the 9th European Parliament (EP) (2019-2024).</a:t>
            </a:r>
          </a:p>
          <a:p>
            <a:r>
              <a:rPr lang="en-IE" dirty="0"/>
              <a:t>Analyse representativeness of entire committees by comparing their preference distributions with Plenary on the left/right and pro/anti EU dimension.</a:t>
            </a:r>
          </a:p>
          <a:p>
            <a:r>
              <a:rPr lang="en-US" dirty="0"/>
              <a:t>Data: EP Policy data, combined with Chapel Hill Expert Data (CHES) </a:t>
            </a:r>
          </a:p>
          <a:p>
            <a:r>
              <a:rPr lang="en-IE" dirty="0"/>
              <a:t>Calculate the extent to which the preference distributions of committees and the plenary overlap, showing that committee representativeness is a function of committee popularity and power.</a:t>
            </a:r>
          </a:p>
          <a:p>
            <a:endParaRPr lang="en-US" dirty="0"/>
          </a:p>
        </p:txBody>
      </p:sp>
    </p:spTree>
    <p:extLst>
      <p:ext uri="{BB962C8B-B14F-4D97-AF65-F5344CB8AC3E}">
        <p14:creationId xmlns:p14="http://schemas.microsoft.com/office/powerpoint/2010/main" val="1250066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F07C2-3318-3EA2-3A6E-2281F1C76CC8}"/>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AF1C930C-D12B-314A-8244-CC60D01648F4}"/>
              </a:ext>
            </a:extLst>
          </p:cNvPr>
          <p:cNvSpPr>
            <a:spLocks noGrp="1"/>
          </p:cNvSpPr>
          <p:nvPr>
            <p:ph idx="1"/>
          </p:nvPr>
        </p:nvSpPr>
        <p:spPr/>
        <p:txBody>
          <a:bodyPr/>
          <a:lstStyle/>
          <a:p>
            <a:r>
              <a:rPr lang="en-IE" dirty="0"/>
              <a:t>Hypothesis: </a:t>
            </a:r>
            <a:r>
              <a:rPr lang="en-IE" i="1" dirty="0"/>
              <a:t>More popular and more powerful committees are more representative of the plenary on key dimensions of political conflict than less popular and less powerful committees</a:t>
            </a:r>
            <a:r>
              <a:rPr lang="en-IE" dirty="0"/>
              <a:t>.</a:t>
            </a:r>
          </a:p>
          <a:p>
            <a:r>
              <a:rPr lang="en-IE" dirty="0"/>
              <a:t>Test for 2 dimensions using CHES data: </a:t>
            </a:r>
          </a:p>
          <a:p>
            <a:pPr lvl="1"/>
            <a:r>
              <a:rPr lang="en-IE" dirty="0"/>
              <a:t>general left/right dimension, ranging from 0 (extreme left) to 10 (extreme right), and </a:t>
            </a:r>
          </a:p>
          <a:p>
            <a:pPr lvl="1"/>
            <a:r>
              <a:rPr lang="en-IE" dirty="0"/>
              <a:t>pro/anti EU dimension, ranging from 1 (strongly opposed to European integration) to 7 (strongly in favour).</a:t>
            </a:r>
          </a:p>
          <a:p>
            <a:endParaRPr lang="en-US" dirty="0"/>
          </a:p>
        </p:txBody>
      </p:sp>
    </p:spTree>
    <p:extLst>
      <p:ext uri="{BB962C8B-B14F-4D97-AF65-F5344CB8AC3E}">
        <p14:creationId xmlns:p14="http://schemas.microsoft.com/office/powerpoint/2010/main" val="34079683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F954-C9C3-8DBA-7AED-BC8A19005742}"/>
              </a:ext>
            </a:extLst>
          </p:cNvPr>
          <p:cNvSpPr>
            <a:spLocks noGrp="1"/>
          </p:cNvSpPr>
          <p:nvPr>
            <p:ph type="title"/>
          </p:nvPr>
        </p:nvSpPr>
        <p:spPr/>
        <p:txBody>
          <a:bodyPr/>
          <a:lstStyle/>
          <a:p>
            <a:r>
              <a:rPr lang="en-US" dirty="0"/>
              <a:t>Variables I/II</a:t>
            </a:r>
          </a:p>
        </p:txBody>
      </p:sp>
      <p:sp>
        <p:nvSpPr>
          <p:cNvPr id="3" name="Content Placeholder 2">
            <a:extLst>
              <a:ext uri="{FF2B5EF4-FFF2-40B4-BE49-F238E27FC236}">
                <a16:creationId xmlns:a16="http://schemas.microsoft.com/office/drawing/2014/main" id="{E4FF39C7-3054-5133-6026-54FD85FE1719}"/>
              </a:ext>
            </a:extLst>
          </p:cNvPr>
          <p:cNvSpPr>
            <a:spLocks noGrp="1"/>
          </p:cNvSpPr>
          <p:nvPr>
            <p:ph idx="1"/>
          </p:nvPr>
        </p:nvSpPr>
        <p:spPr>
          <a:xfrm>
            <a:off x="838200" y="1910031"/>
            <a:ext cx="5136539" cy="4351338"/>
          </a:xfrm>
        </p:spPr>
        <p:txBody>
          <a:bodyPr/>
          <a:lstStyle/>
          <a:p>
            <a:pPr marL="0" indent="0">
              <a:buNone/>
            </a:pPr>
            <a:r>
              <a:rPr lang="en-US" dirty="0"/>
              <a:t>Dependent variable: Committee representativeness, via overlap </a:t>
            </a:r>
            <a:r>
              <a:rPr lang="en-IE" b="1" dirty="0"/>
              <a:t>overlap between the committees’ density distributions </a:t>
            </a:r>
            <a:r>
              <a:rPr lang="en-IE" dirty="0"/>
              <a:t>and the </a:t>
            </a:r>
            <a:r>
              <a:rPr lang="en-IE" b="1" dirty="0"/>
              <a:t>plenary’s density distribution.</a:t>
            </a:r>
            <a:endParaRPr lang="en-IE" dirty="0"/>
          </a:p>
          <a:p>
            <a:endParaRPr lang="en-US" dirty="0"/>
          </a:p>
        </p:txBody>
      </p:sp>
      <p:pic>
        <p:nvPicPr>
          <p:cNvPr id="5" name="Picture 4" descr="A graph of overlap between value and overlap&#10;&#10;AI-generated content may be incorrect.">
            <a:extLst>
              <a:ext uri="{FF2B5EF4-FFF2-40B4-BE49-F238E27FC236}">
                <a16:creationId xmlns:a16="http://schemas.microsoft.com/office/drawing/2014/main" id="{96920B6E-2720-5F8D-AAB4-E03E9366DDD1}"/>
              </a:ext>
            </a:extLst>
          </p:cNvPr>
          <p:cNvPicPr>
            <a:picLocks noChangeAspect="1"/>
          </p:cNvPicPr>
          <p:nvPr/>
        </p:nvPicPr>
        <p:blipFill>
          <a:blip r:embed="rId2"/>
          <a:stretch>
            <a:fillRect/>
          </a:stretch>
        </p:blipFill>
        <p:spPr>
          <a:xfrm>
            <a:off x="5974739" y="1910031"/>
            <a:ext cx="5379059" cy="3584521"/>
          </a:xfrm>
          <a:prstGeom prst="rect">
            <a:avLst/>
          </a:prstGeom>
        </p:spPr>
      </p:pic>
    </p:spTree>
    <p:extLst>
      <p:ext uri="{BB962C8B-B14F-4D97-AF65-F5344CB8AC3E}">
        <p14:creationId xmlns:p14="http://schemas.microsoft.com/office/powerpoint/2010/main" val="1453599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D09DF-88C3-82A8-F2C0-4D7A8D10B4E0}"/>
              </a:ext>
            </a:extLst>
          </p:cNvPr>
          <p:cNvSpPr>
            <a:spLocks noGrp="1"/>
          </p:cNvSpPr>
          <p:nvPr>
            <p:ph type="title"/>
          </p:nvPr>
        </p:nvSpPr>
        <p:spPr/>
        <p:txBody>
          <a:bodyPr/>
          <a:lstStyle/>
          <a:p>
            <a:r>
              <a:rPr lang="en-US" dirty="0"/>
              <a:t>Variables II/II </a:t>
            </a:r>
          </a:p>
        </p:txBody>
      </p:sp>
      <p:sp>
        <p:nvSpPr>
          <p:cNvPr id="3" name="Content Placeholder 2">
            <a:extLst>
              <a:ext uri="{FF2B5EF4-FFF2-40B4-BE49-F238E27FC236}">
                <a16:creationId xmlns:a16="http://schemas.microsoft.com/office/drawing/2014/main" id="{8EB8BE37-6B6D-2938-FF6F-A5394B476D16}"/>
              </a:ext>
            </a:extLst>
          </p:cNvPr>
          <p:cNvSpPr>
            <a:spLocks noGrp="1"/>
          </p:cNvSpPr>
          <p:nvPr>
            <p:ph idx="1"/>
          </p:nvPr>
        </p:nvSpPr>
        <p:spPr>
          <a:xfrm>
            <a:off x="838200" y="1825625"/>
            <a:ext cx="7248896" cy="4351338"/>
          </a:xfrm>
        </p:spPr>
        <p:txBody>
          <a:bodyPr/>
          <a:lstStyle/>
          <a:p>
            <a:pPr marL="0" indent="0">
              <a:buNone/>
            </a:pPr>
            <a:r>
              <a:rPr lang="en-US" dirty="0"/>
              <a:t>Independent variables: </a:t>
            </a:r>
          </a:p>
          <a:p>
            <a:r>
              <a:rPr lang="en-US" dirty="0"/>
              <a:t>Committee power: </a:t>
            </a:r>
            <a:r>
              <a:rPr lang="en-IE" dirty="0"/>
              <a:t>adopted an existing categorization on measuring committee power, based on influence in EU’s law making process</a:t>
            </a:r>
            <a:endParaRPr lang="en-US" dirty="0"/>
          </a:p>
          <a:p>
            <a:r>
              <a:rPr lang="en-US" dirty="0"/>
              <a:t>Committee popularity: adopted scale from existing survey,  in which Members of the European Parliament (MEPs) rank their preferred committees </a:t>
            </a:r>
          </a:p>
        </p:txBody>
      </p:sp>
    </p:spTree>
    <p:extLst>
      <p:ext uri="{BB962C8B-B14F-4D97-AF65-F5344CB8AC3E}">
        <p14:creationId xmlns:p14="http://schemas.microsoft.com/office/powerpoint/2010/main" val="2655221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41431-8BE2-BEC5-970B-F2F700722211}"/>
              </a:ext>
            </a:extLst>
          </p:cNvPr>
          <p:cNvSpPr>
            <a:spLocks noGrp="1"/>
          </p:cNvSpPr>
          <p:nvPr>
            <p:ph type="title"/>
          </p:nvPr>
        </p:nvSpPr>
        <p:spPr/>
        <p:txBody>
          <a:bodyPr/>
          <a:lstStyle/>
          <a:p>
            <a:r>
              <a:rPr lang="en-US" dirty="0"/>
              <a:t>Methods</a:t>
            </a:r>
          </a:p>
        </p:txBody>
      </p:sp>
      <p:sp>
        <p:nvSpPr>
          <p:cNvPr id="3" name="Content Placeholder 2">
            <a:extLst>
              <a:ext uri="{FF2B5EF4-FFF2-40B4-BE49-F238E27FC236}">
                <a16:creationId xmlns:a16="http://schemas.microsoft.com/office/drawing/2014/main" id="{83006703-8479-645D-73B8-A0B098364284}"/>
              </a:ext>
            </a:extLst>
          </p:cNvPr>
          <p:cNvSpPr>
            <a:spLocks noGrp="1"/>
          </p:cNvSpPr>
          <p:nvPr>
            <p:ph idx="1"/>
          </p:nvPr>
        </p:nvSpPr>
        <p:spPr/>
        <p:txBody>
          <a:bodyPr/>
          <a:lstStyle/>
          <a:p>
            <a:pPr marL="0" indent="0">
              <a:buNone/>
            </a:pPr>
            <a:r>
              <a:rPr lang="en-US" dirty="0"/>
              <a:t>2 complementary strategies: </a:t>
            </a:r>
          </a:p>
          <a:p>
            <a:r>
              <a:rPr lang="en-IE" dirty="0"/>
              <a:t>inspect deviations from representativeness in a descriptive manner;</a:t>
            </a:r>
          </a:p>
          <a:p>
            <a:r>
              <a:rPr lang="en-IE" dirty="0"/>
              <a:t>estimate the relationships between committee popularity, power and representativeness with OLS regressions; </a:t>
            </a:r>
          </a:p>
          <a:p>
            <a:r>
              <a:rPr lang="en-IE" dirty="0"/>
              <a:t>assess the influence of individual committees to test for outliers.</a:t>
            </a:r>
          </a:p>
          <a:p>
            <a:endParaRPr lang="en-IE" dirty="0"/>
          </a:p>
          <a:p>
            <a:endParaRPr lang="en-IE" dirty="0"/>
          </a:p>
          <a:p>
            <a:endParaRPr lang="en-US" dirty="0"/>
          </a:p>
        </p:txBody>
      </p:sp>
    </p:spTree>
    <p:extLst>
      <p:ext uri="{BB962C8B-B14F-4D97-AF65-F5344CB8AC3E}">
        <p14:creationId xmlns:p14="http://schemas.microsoft.com/office/powerpoint/2010/main" val="2177634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0A61C-2E5E-3FC4-5F97-6629435F6DDD}"/>
              </a:ext>
            </a:extLst>
          </p:cNvPr>
          <p:cNvSpPr>
            <a:spLocks noGrp="1"/>
          </p:cNvSpPr>
          <p:nvPr>
            <p:ph type="title"/>
          </p:nvPr>
        </p:nvSpPr>
        <p:spPr/>
        <p:txBody>
          <a:bodyPr/>
          <a:lstStyle/>
          <a:p>
            <a:r>
              <a:rPr lang="en-US" dirty="0"/>
              <a:t>Replication of Analysis </a:t>
            </a:r>
          </a:p>
        </p:txBody>
      </p:sp>
      <p:pic>
        <p:nvPicPr>
          <p:cNvPr id="5" name="Content Placeholder 4" descr="A graph of different sizes and shapes&#10;&#10;AI-generated content may be incorrect.">
            <a:extLst>
              <a:ext uri="{FF2B5EF4-FFF2-40B4-BE49-F238E27FC236}">
                <a16:creationId xmlns:a16="http://schemas.microsoft.com/office/drawing/2014/main" id="{5CE3C19B-8976-E80A-2541-A4CC193C03DE}"/>
              </a:ext>
            </a:extLst>
          </p:cNvPr>
          <p:cNvPicPr>
            <a:picLocks noGrp="1" noChangeAspect="1"/>
          </p:cNvPicPr>
          <p:nvPr>
            <p:ph idx="1"/>
          </p:nvPr>
        </p:nvPicPr>
        <p:blipFill>
          <a:blip r:embed="rId2"/>
          <a:stretch>
            <a:fillRect/>
          </a:stretch>
        </p:blipFill>
        <p:spPr>
          <a:xfrm>
            <a:off x="3598223" y="1191379"/>
            <a:ext cx="7969332" cy="3225681"/>
          </a:xfrm>
          <a:prstGeom prst="rect">
            <a:avLst/>
          </a:prstGeom>
        </p:spPr>
      </p:pic>
      <p:sp>
        <p:nvSpPr>
          <p:cNvPr id="7" name="TextBox 6">
            <a:extLst>
              <a:ext uri="{FF2B5EF4-FFF2-40B4-BE49-F238E27FC236}">
                <a16:creationId xmlns:a16="http://schemas.microsoft.com/office/drawing/2014/main" id="{B016ECF1-9B55-4197-405F-04BD1C83580B}"/>
              </a:ext>
            </a:extLst>
          </p:cNvPr>
          <p:cNvSpPr txBox="1"/>
          <p:nvPr/>
        </p:nvSpPr>
        <p:spPr>
          <a:xfrm>
            <a:off x="352302" y="4417060"/>
            <a:ext cx="11839698" cy="2678041"/>
          </a:xfrm>
          <a:prstGeom prst="rect">
            <a:avLst/>
          </a:prstGeom>
          <a:noFill/>
        </p:spPr>
        <p:txBody>
          <a:bodyPr wrap="square">
            <a:spAutoFit/>
          </a:bodyPr>
          <a:lstStyle/>
          <a:p>
            <a:pPr>
              <a:lnSpc>
                <a:spcPct val="90000"/>
              </a:lnSpc>
              <a:spcBef>
                <a:spcPts val="1000"/>
              </a:spcBef>
            </a:pPr>
            <a:r>
              <a:rPr lang="en-IE" sz="2800" dirty="0"/>
              <a:t>Compare the distribution of preferences on the pro/anti EU dimension in two committees (Foreign Affairs (AFET) and Fisheries (PECH)) with plenary-level distributions; </a:t>
            </a:r>
          </a:p>
          <a:p>
            <a:pPr>
              <a:lnSpc>
                <a:spcPct val="90000"/>
              </a:lnSpc>
              <a:spcBef>
                <a:spcPts val="1000"/>
              </a:spcBef>
            </a:pPr>
            <a:r>
              <a:rPr lang="en-IE" sz="2800" dirty="0"/>
              <a:t>plot the distribution of pro/anti-EU stance of the MEPs per committee (light grey) against the distribution of MEPs in the plenary (dark grey).</a:t>
            </a:r>
          </a:p>
          <a:p>
            <a:pPr>
              <a:lnSpc>
                <a:spcPct val="90000"/>
              </a:lnSpc>
              <a:spcBef>
                <a:spcPts val="1000"/>
              </a:spcBef>
            </a:pPr>
            <a:endParaRPr lang="en-IE" sz="2800" dirty="0"/>
          </a:p>
        </p:txBody>
      </p:sp>
    </p:spTree>
    <p:extLst>
      <p:ext uri="{BB962C8B-B14F-4D97-AF65-F5344CB8AC3E}">
        <p14:creationId xmlns:p14="http://schemas.microsoft.com/office/powerpoint/2010/main" val="1978210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ED4B4B-89F3-491B-6B4D-CE81F3E85F64}"/>
              </a:ext>
            </a:extLst>
          </p:cNvPr>
          <p:cNvSpPr>
            <a:spLocks noGrp="1"/>
          </p:cNvSpPr>
          <p:nvPr>
            <p:ph type="title"/>
          </p:nvPr>
        </p:nvSpPr>
        <p:spPr>
          <a:xfrm>
            <a:off x="513607" y="540534"/>
            <a:ext cx="5764481" cy="1325563"/>
          </a:xfrm>
        </p:spPr>
        <p:txBody>
          <a:bodyPr>
            <a:normAutofit/>
          </a:bodyPr>
          <a:lstStyle/>
          <a:p>
            <a:r>
              <a:rPr lang="en-US" dirty="0"/>
              <a:t>Representativeness of powerful committees</a:t>
            </a:r>
          </a:p>
        </p:txBody>
      </p:sp>
      <p:sp>
        <p:nvSpPr>
          <p:cNvPr id="3" name="Content Placeholder 2">
            <a:extLst>
              <a:ext uri="{FF2B5EF4-FFF2-40B4-BE49-F238E27FC236}">
                <a16:creationId xmlns:a16="http://schemas.microsoft.com/office/drawing/2014/main" id="{3C86EA7A-18BC-4AF1-E379-85089268D24E}"/>
              </a:ext>
            </a:extLst>
          </p:cNvPr>
          <p:cNvSpPr>
            <a:spLocks noGrp="1"/>
          </p:cNvSpPr>
          <p:nvPr>
            <p:ph idx="1"/>
          </p:nvPr>
        </p:nvSpPr>
        <p:spPr>
          <a:xfrm>
            <a:off x="462148" y="2292545"/>
            <a:ext cx="5867400" cy="4351338"/>
          </a:xfrm>
        </p:spPr>
        <p:txBody>
          <a:bodyPr>
            <a:normAutofit fontScale="25000" lnSpcReduction="20000"/>
          </a:bodyPr>
          <a:lstStyle/>
          <a:p>
            <a:pPr>
              <a:lnSpc>
                <a:spcPct val="170000"/>
              </a:lnSpc>
            </a:pPr>
            <a:r>
              <a:rPr lang="en-IE" sz="5900" dirty="0"/>
              <a:t>Plotting of powerful committees on left/right, pro/anti-EU. High scores/overlap with the plenary-level distribution indicates representativeness of the committees. </a:t>
            </a:r>
          </a:p>
          <a:p>
            <a:pPr>
              <a:lnSpc>
                <a:spcPct val="170000"/>
              </a:lnSpc>
            </a:pPr>
            <a:r>
              <a:rPr lang="en-IE" sz="5900" dirty="0"/>
              <a:t>The 10 “non-powerful” committees occupy ca. the same range as the more powerful committees on the left/right dimension. </a:t>
            </a:r>
          </a:p>
          <a:p>
            <a:pPr>
              <a:lnSpc>
                <a:spcPct val="170000"/>
              </a:lnSpc>
            </a:pPr>
            <a:r>
              <a:rPr lang="en-IE" sz="5900" dirty="0"/>
              <a:t>On the pro/anti EU dimension, find that powerful committees tend to be more representative than less powerful committees, with the exceptions of Legal Affairs (JURI, powerful) and Foreign Affairs (AFET, not powerful).</a:t>
            </a:r>
          </a:p>
          <a:p>
            <a:endParaRPr lang="en-US" dirty="0"/>
          </a:p>
        </p:txBody>
      </p:sp>
      <p:pic>
        <p:nvPicPr>
          <p:cNvPr id="5" name="Picture 4" descr="A graph with numbers and symbols&#10;&#10;AI-generated content may be incorrect.">
            <a:extLst>
              <a:ext uri="{FF2B5EF4-FFF2-40B4-BE49-F238E27FC236}">
                <a16:creationId xmlns:a16="http://schemas.microsoft.com/office/drawing/2014/main" id="{F0E97868-6850-A5A4-E0B0-0740C19081B6}"/>
              </a:ext>
            </a:extLst>
          </p:cNvPr>
          <p:cNvPicPr>
            <a:picLocks noChangeAspect="1"/>
          </p:cNvPicPr>
          <p:nvPr/>
        </p:nvPicPr>
        <p:blipFill>
          <a:blip r:embed="rId2"/>
          <a:stretch>
            <a:fillRect/>
          </a:stretch>
        </p:blipFill>
        <p:spPr>
          <a:xfrm>
            <a:off x="6848103" y="540534"/>
            <a:ext cx="4881749" cy="6103349"/>
          </a:xfrm>
          <a:prstGeom prst="rect">
            <a:avLst/>
          </a:prstGeom>
        </p:spPr>
      </p:pic>
    </p:spTree>
    <p:extLst>
      <p:ext uri="{BB962C8B-B14F-4D97-AF65-F5344CB8AC3E}">
        <p14:creationId xmlns:p14="http://schemas.microsoft.com/office/powerpoint/2010/main" val="2009167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F2B86-B5EF-3C64-5F3E-FAF37A4D9AC6}"/>
              </a:ext>
            </a:extLst>
          </p:cNvPr>
          <p:cNvSpPr>
            <a:spLocks noGrp="1"/>
          </p:cNvSpPr>
          <p:nvPr>
            <p:ph type="title"/>
          </p:nvPr>
        </p:nvSpPr>
        <p:spPr>
          <a:xfrm>
            <a:off x="641926" y="495754"/>
            <a:ext cx="6491068" cy="1325563"/>
          </a:xfrm>
        </p:spPr>
        <p:txBody>
          <a:bodyPr/>
          <a:lstStyle/>
          <a:p>
            <a:r>
              <a:rPr lang="en-US" dirty="0"/>
              <a:t>Representativeness of popular committees</a:t>
            </a:r>
          </a:p>
        </p:txBody>
      </p:sp>
      <p:pic>
        <p:nvPicPr>
          <p:cNvPr id="5" name="Content Placeholder 4" descr="A graph with numbers and letters&#10;&#10;AI-generated content may be incorrect.">
            <a:extLst>
              <a:ext uri="{FF2B5EF4-FFF2-40B4-BE49-F238E27FC236}">
                <a16:creationId xmlns:a16="http://schemas.microsoft.com/office/drawing/2014/main" id="{0616C817-C94D-3B73-1DD6-ACF6C8870E98}"/>
              </a:ext>
            </a:extLst>
          </p:cNvPr>
          <p:cNvPicPr>
            <a:picLocks noGrp="1" noChangeAspect="1"/>
          </p:cNvPicPr>
          <p:nvPr>
            <p:ph idx="1"/>
          </p:nvPr>
        </p:nvPicPr>
        <p:blipFill>
          <a:blip r:embed="rId2"/>
          <a:stretch>
            <a:fillRect/>
          </a:stretch>
        </p:blipFill>
        <p:spPr>
          <a:xfrm>
            <a:off x="6443004" y="365125"/>
            <a:ext cx="5107070" cy="6385054"/>
          </a:xfrm>
          <a:prstGeom prst="rect">
            <a:avLst/>
          </a:prstGeom>
        </p:spPr>
      </p:pic>
      <p:sp>
        <p:nvSpPr>
          <p:cNvPr id="7" name="TextBox 6">
            <a:extLst>
              <a:ext uri="{FF2B5EF4-FFF2-40B4-BE49-F238E27FC236}">
                <a16:creationId xmlns:a16="http://schemas.microsoft.com/office/drawing/2014/main" id="{374E8A6B-B7A1-E77D-A0A2-B5C7163F8124}"/>
              </a:ext>
            </a:extLst>
          </p:cNvPr>
          <p:cNvSpPr txBox="1"/>
          <p:nvPr/>
        </p:nvSpPr>
        <p:spPr>
          <a:xfrm>
            <a:off x="641926" y="2170789"/>
            <a:ext cx="5107070" cy="3416320"/>
          </a:xfrm>
          <a:prstGeom prst="rect">
            <a:avLst/>
          </a:prstGeom>
          <a:noFill/>
        </p:spPr>
        <p:txBody>
          <a:bodyPr wrap="square">
            <a:spAutoFit/>
          </a:bodyPr>
          <a:lstStyle/>
          <a:p>
            <a:r>
              <a:rPr lang="en-US" sz="2400" dirty="0"/>
              <a:t>Overall, increased representativeness of more popular committees can be observed.</a:t>
            </a:r>
          </a:p>
          <a:p>
            <a:endParaRPr lang="en-US" sz="2400" dirty="0"/>
          </a:p>
          <a:p>
            <a:r>
              <a:rPr lang="en-US" sz="2400" dirty="0"/>
              <a:t>Less popular committees seem to dominate the lower overlap (Legal Affairs (JURI), Petitions (PETI), and Budgetary Control (CONT)), indicating lower representativeness.</a:t>
            </a:r>
          </a:p>
        </p:txBody>
      </p:sp>
    </p:spTree>
    <p:extLst>
      <p:ext uri="{BB962C8B-B14F-4D97-AF65-F5344CB8AC3E}">
        <p14:creationId xmlns:p14="http://schemas.microsoft.com/office/powerpoint/2010/main" val="3838382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0C31E-68DC-7C7D-FD24-B31C465B1A22}"/>
              </a:ext>
            </a:extLst>
          </p:cNvPr>
          <p:cNvSpPr>
            <a:spLocks noGrp="1"/>
          </p:cNvSpPr>
          <p:nvPr>
            <p:ph type="title"/>
          </p:nvPr>
        </p:nvSpPr>
        <p:spPr/>
        <p:txBody>
          <a:bodyPr/>
          <a:lstStyle/>
          <a:p>
            <a:r>
              <a:rPr lang="en-US" dirty="0"/>
              <a:t>Regression Models</a:t>
            </a:r>
          </a:p>
        </p:txBody>
      </p:sp>
      <p:sp>
        <p:nvSpPr>
          <p:cNvPr id="3" name="Content Placeholder 2">
            <a:extLst>
              <a:ext uri="{FF2B5EF4-FFF2-40B4-BE49-F238E27FC236}">
                <a16:creationId xmlns:a16="http://schemas.microsoft.com/office/drawing/2014/main" id="{857E5DB3-8943-9F97-7D14-C30BA128488E}"/>
              </a:ext>
            </a:extLst>
          </p:cNvPr>
          <p:cNvSpPr>
            <a:spLocks noGrp="1"/>
          </p:cNvSpPr>
          <p:nvPr>
            <p:ph idx="1"/>
          </p:nvPr>
        </p:nvSpPr>
        <p:spPr/>
        <p:txBody>
          <a:bodyPr>
            <a:normAutofit fontScale="85000" lnSpcReduction="20000"/>
          </a:bodyPr>
          <a:lstStyle/>
          <a:p>
            <a:r>
              <a:rPr lang="en-IE" dirty="0"/>
              <a:t>Model I (left/right): Regresses committee representativeness on the left–right dimension on committee popularity (percentage measure).</a:t>
            </a:r>
          </a:p>
          <a:p>
            <a:r>
              <a:rPr lang="en-IE" dirty="0"/>
              <a:t>Model II (left/right): Regresses committee representativeness on the left–right dimension on committee popularity using an ordinal rank measure.</a:t>
            </a:r>
          </a:p>
          <a:p>
            <a:r>
              <a:rPr lang="en-IE" dirty="0"/>
              <a:t>Model III (left/right): Regresses committee representativeness on the left–right dimension on committee power.</a:t>
            </a:r>
          </a:p>
          <a:p>
            <a:r>
              <a:rPr lang="en-IE" dirty="0"/>
              <a:t>Model IV (pro/anti EU): Regresses committee representativeness on the pro/anti EU dimension on committee popularity (percentage measure).</a:t>
            </a:r>
          </a:p>
          <a:p>
            <a:r>
              <a:rPr lang="en-IE" dirty="0"/>
              <a:t>Model V (pro/anti EU): Regresses committee representativeness on the pro/anti EU dimension on committee popularity using an ordinal rank measure.</a:t>
            </a:r>
          </a:p>
          <a:p>
            <a:r>
              <a:rPr lang="en-IE" dirty="0"/>
              <a:t>Model VI (pro/anti EU): Regresses committee representativeness on the pro/anti EU dimension on committee power.</a:t>
            </a:r>
          </a:p>
        </p:txBody>
      </p:sp>
    </p:spTree>
    <p:extLst>
      <p:ext uri="{BB962C8B-B14F-4D97-AF65-F5344CB8AC3E}">
        <p14:creationId xmlns:p14="http://schemas.microsoft.com/office/powerpoint/2010/main" val="1939320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2540A-7A49-BDEC-3949-23D7B3A607D0}"/>
              </a:ext>
            </a:extLst>
          </p:cNvPr>
          <p:cNvSpPr>
            <a:spLocks noGrp="1"/>
          </p:cNvSpPr>
          <p:nvPr>
            <p:ph type="title"/>
          </p:nvPr>
        </p:nvSpPr>
        <p:spPr/>
        <p:txBody>
          <a:bodyPr/>
          <a:lstStyle/>
          <a:p>
            <a:r>
              <a:rPr lang="en-US" dirty="0"/>
              <a:t>Regression Models </a:t>
            </a:r>
          </a:p>
        </p:txBody>
      </p:sp>
      <p:pic>
        <p:nvPicPr>
          <p:cNvPr id="4" name="Picture 3">
            <a:extLst>
              <a:ext uri="{FF2B5EF4-FFF2-40B4-BE49-F238E27FC236}">
                <a16:creationId xmlns:a16="http://schemas.microsoft.com/office/drawing/2014/main" id="{A83BB68C-3B16-38DD-AF81-A12C0943C649}"/>
              </a:ext>
            </a:extLst>
          </p:cNvPr>
          <p:cNvPicPr>
            <a:picLocks noChangeAspect="1"/>
          </p:cNvPicPr>
          <p:nvPr/>
        </p:nvPicPr>
        <p:blipFill>
          <a:blip r:embed="rId2"/>
          <a:stretch>
            <a:fillRect/>
          </a:stretch>
        </p:blipFill>
        <p:spPr>
          <a:xfrm>
            <a:off x="1612509" y="2239414"/>
            <a:ext cx="8966982" cy="3264195"/>
          </a:xfrm>
          <a:prstGeom prst="rect">
            <a:avLst/>
          </a:prstGeom>
        </p:spPr>
      </p:pic>
    </p:spTree>
    <p:extLst>
      <p:ext uri="{BB962C8B-B14F-4D97-AF65-F5344CB8AC3E}">
        <p14:creationId xmlns:p14="http://schemas.microsoft.com/office/powerpoint/2010/main" val="3649736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9297C-A016-6E22-7E87-00CB4BF2E86C}"/>
              </a:ext>
            </a:extLst>
          </p:cNvPr>
          <p:cNvSpPr>
            <a:spLocks noGrp="1"/>
          </p:cNvSpPr>
          <p:nvPr>
            <p:ph type="title"/>
          </p:nvPr>
        </p:nvSpPr>
        <p:spPr/>
        <p:txBody>
          <a:bodyPr/>
          <a:lstStyle/>
          <a:p>
            <a:r>
              <a:rPr lang="en-US" dirty="0"/>
              <a:t>Result findings interpretation</a:t>
            </a:r>
          </a:p>
        </p:txBody>
      </p:sp>
      <p:sp>
        <p:nvSpPr>
          <p:cNvPr id="3" name="Content Placeholder 2">
            <a:extLst>
              <a:ext uri="{FF2B5EF4-FFF2-40B4-BE49-F238E27FC236}">
                <a16:creationId xmlns:a16="http://schemas.microsoft.com/office/drawing/2014/main" id="{AC1F1DCC-D5A8-5F8A-01F8-295A06200251}"/>
              </a:ext>
            </a:extLst>
          </p:cNvPr>
          <p:cNvSpPr>
            <a:spLocks noGrp="1"/>
          </p:cNvSpPr>
          <p:nvPr>
            <p:ph idx="1"/>
          </p:nvPr>
        </p:nvSpPr>
        <p:spPr/>
        <p:txBody>
          <a:bodyPr/>
          <a:lstStyle/>
          <a:p>
            <a:pPr marL="0" indent="0">
              <a:buNone/>
            </a:pPr>
            <a:r>
              <a:rPr lang="en-US" dirty="0"/>
              <a:t>Authors find that neither committee popularity nor power helps explain deviations in committee representativeness on the left/right dimension (Models I–III). </a:t>
            </a:r>
          </a:p>
          <a:p>
            <a:pPr marL="0" indent="0">
              <a:buNone/>
            </a:pPr>
            <a:r>
              <a:rPr lang="en-US" dirty="0"/>
              <a:t>Committee popularity increases committee representativeness significantly on the pro/anti-EU dimension (Model IV). Every percentage point increase in popularity is associated with an increase in overlap on the pro/anti-EU dimension of .54 percentage points. The effect also holds if we use an ordinal ranking of committee popularity resulting from Whitaker’s survey (Model V, note that higher values indicate lower popularity).</a:t>
            </a:r>
          </a:p>
        </p:txBody>
      </p:sp>
    </p:spTree>
    <p:extLst>
      <p:ext uri="{BB962C8B-B14F-4D97-AF65-F5344CB8AC3E}">
        <p14:creationId xmlns:p14="http://schemas.microsoft.com/office/powerpoint/2010/main" val="373647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83299-6558-6A73-2235-C15140EF11D9}"/>
              </a:ext>
            </a:extLst>
          </p:cNvPr>
          <p:cNvSpPr>
            <a:spLocks noGrp="1"/>
          </p:cNvSpPr>
          <p:nvPr>
            <p:ph type="title"/>
          </p:nvPr>
        </p:nvSpPr>
        <p:spPr/>
        <p:txBody>
          <a:bodyPr/>
          <a:lstStyle/>
          <a:p>
            <a:r>
              <a:rPr lang="en-US" dirty="0"/>
              <a:t>Replication: Interaction terms</a:t>
            </a:r>
          </a:p>
        </p:txBody>
      </p:sp>
      <p:pic>
        <p:nvPicPr>
          <p:cNvPr id="4" name="Content Placeholder 3">
            <a:extLst>
              <a:ext uri="{FF2B5EF4-FFF2-40B4-BE49-F238E27FC236}">
                <a16:creationId xmlns:a16="http://schemas.microsoft.com/office/drawing/2014/main" id="{5CCAA2CD-8A83-3EF4-6671-BEF3FE08402E}"/>
              </a:ext>
            </a:extLst>
          </p:cNvPr>
          <p:cNvPicPr>
            <a:picLocks noGrp="1" noChangeAspect="1"/>
          </p:cNvPicPr>
          <p:nvPr>
            <p:ph idx="1"/>
          </p:nvPr>
        </p:nvPicPr>
        <p:blipFill>
          <a:blip r:embed="rId2"/>
          <a:stretch>
            <a:fillRect/>
          </a:stretch>
        </p:blipFill>
        <p:spPr>
          <a:xfrm>
            <a:off x="556846" y="1493740"/>
            <a:ext cx="9628163" cy="735417"/>
          </a:xfrm>
          <a:prstGeom prst="rect">
            <a:avLst/>
          </a:prstGeom>
        </p:spPr>
      </p:pic>
      <p:pic>
        <p:nvPicPr>
          <p:cNvPr id="6" name="Picture 5">
            <a:extLst>
              <a:ext uri="{FF2B5EF4-FFF2-40B4-BE49-F238E27FC236}">
                <a16:creationId xmlns:a16="http://schemas.microsoft.com/office/drawing/2014/main" id="{F8FB0EAF-E7E0-3FDA-A56F-B76F91A81D82}"/>
              </a:ext>
            </a:extLst>
          </p:cNvPr>
          <p:cNvPicPr>
            <a:picLocks noChangeAspect="1"/>
          </p:cNvPicPr>
          <p:nvPr/>
        </p:nvPicPr>
        <p:blipFill>
          <a:blip r:embed="rId3"/>
          <a:stretch>
            <a:fillRect/>
          </a:stretch>
        </p:blipFill>
        <p:spPr>
          <a:xfrm>
            <a:off x="644299" y="2229157"/>
            <a:ext cx="5451701" cy="4263718"/>
          </a:xfrm>
          <a:prstGeom prst="rect">
            <a:avLst/>
          </a:prstGeom>
        </p:spPr>
      </p:pic>
      <p:sp>
        <p:nvSpPr>
          <p:cNvPr id="8" name="TextBox 7">
            <a:extLst>
              <a:ext uri="{FF2B5EF4-FFF2-40B4-BE49-F238E27FC236}">
                <a16:creationId xmlns:a16="http://schemas.microsoft.com/office/drawing/2014/main" id="{33273BF7-AB41-AFD8-8615-9FC4D0436395}"/>
              </a:ext>
            </a:extLst>
          </p:cNvPr>
          <p:cNvSpPr txBox="1"/>
          <p:nvPr/>
        </p:nvSpPr>
        <p:spPr>
          <a:xfrm>
            <a:off x="6326762" y="2229157"/>
            <a:ext cx="5451701" cy="3970318"/>
          </a:xfrm>
          <a:prstGeom prst="rect">
            <a:avLst/>
          </a:prstGeom>
          <a:noFill/>
        </p:spPr>
        <p:txBody>
          <a:bodyPr wrap="square">
            <a:spAutoFit/>
          </a:bodyPr>
          <a:lstStyle/>
          <a:p>
            <a:pPr>
              <a:buNone/>
            </a:pPr>
            <a:r>
              <a:rPr lang="en-IE" dirty="0">
                <a:solidFill>
                  <a:srgbClr val="000000"/>
                </a:solidFill>
                <a:effectLst/>
                <a:latin typeface="Helvetica" pitchFamily="2" charset="0"/>
              </a:rPr>
              <a:t>for less powerful committees (the reference category), popularity rank has essentially no effect on representativeness</a:t>
            </a:r>
          </a:p>
          <a:p>
            <a:r>
              <a:rPr lang="en-IE" dirty="0"/>
              <a:t>no systematic difference in representativeness between powerful and less powerful</a:t>
            </a:r>
          </a:p>
          <a:p>
            <a:r>
              <a:rPr lang="en-IE" dirty="0"/>
              <a:t>committees at low levels of popularity rank</a:t>
            </a:r>
          </a:p>
          <a:p>
            <a:r>
              <a:rPr lang="en-IE" dirty="0"/>
              <a:t>The interaction term is negative (</a:t>
            </a:r>
            <a:r>
              <a:rPr lang="el-GR" dirty="0"/>
              <a:t>β=−0.224, </a:t>
            </a:r>
            <a:r>
              <a:rPr lang="en-IE" dirty="0"/>
              <a:t>p = 0.154), indicating that the effect of popularity rank</a:t>
            </a:r>
          </a:p>
          <a:p>
            <a:r>
              <a:rPr lang="en-IE" dirty="0"/>
              <a:t>becomes more negative for powerful committees.</a:t>
            </a:r>
          </a:p>
          <a:p>
            <a:r>
              <a:rPr lang="en-IE" dirty="0"/>
              <a:t>This implies that for powerful committees, an</a:t>
            </a:r>
          </a:p>
          <a:p>
            <a:r>
              <a:rPr lang="en-IE" dirty="0"/>
              <a:t>increase in popularity rank (i.e. lower popularity) is associated with a larger decrease in representativeness.</a:t>
            </a:r>
          </a:p>
          <a:p>
            <a:pPr>
              <a:buNone/>
            </a:pPr>
            <a:r>
              <a:rPr lang="en-IE" dirty="0">
                <a:solidFill>
                  <a:srgbClr val="000000"/>
                </a:solidFill>
                <a:effectLst/>
                <a:latin typeface="Helvetica" pitchFamily="2" charset="0"/>
              </a:rPr>
              <a:t>Model not statistically significant</a:t>
            </a:r>
          </a:p>
        </p:txBody>
      </p:sp>
    </p:spTree>
    <p:extLst>
      <p:ext uri="{BB962C8B-B14F-4D97-AF65-F5344CB8AC3E}">
        <p14:creationId xmlns:p14="http://schemas.microsoft.com/office/powerpoint/2010/main" val="14511783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266</TotalTime>
  <Words>866</Words>
  <Application>Microsoft Macintosh PowerPoint</Application>
  <PresentationFormat>Widescreen</PresentationFormat>
  <Paragraphs>58</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Helvetica</vt:lpstr>
      <vt:lpstr>Office Theme</vt:lpstr>
      <vt:lpstr>Hurka and Kaplaner (2020): Are popular and powerful committees more representative? Evidence from the 9th European Parliament </vt:lpstr>
      <vt:lpstr>Introduction</vt:lpstr>
      <vt:lpstr>Analysis</vt:lpstr>
      <vt:lpstr>Variables I/II</vt:lpstr>
      <vt:lpstr>Variables II/II </vt:lpstr>
      <vt:lpstr>Methods</vt:lpstr>
      <vt:lpstr>Replication of Analysis </vt:lpstr>
      <vt:lpstr>Representativeness of powerful committees</vt:lpstr>
      <vt:lpstr>Representativeness of popular committees</vt:lpstr>
      <vt:lpstr>Regression Models</vt:lpstr>
      <vt:lpstr>Regression Models </vt:lpstr>
      <vt:lpstr>Result findings interpretation</vt:lpstr>
      <vt:lpstr>Replication: Interaction terms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Mairi Kachur</dc:creator>
  <cp:lastModifiedBy>Mairi Kachur</cp:lastModifiedBy>
  <cp:revision>1</cp:revision>
  <dcterms:created xsi:type="dcterms:W3CDTF">2026-04-01T16:19:49Z</dcterms:created>
  <dcterms:modified xsi:type="dcterms:W3CDTF">2026-04-01T20:46:46Z</dcterms:modified>
</cp:coreProperties>
</file>